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61" r:id="rId4"/>
    <p:sldId id="260" r:id="rId5"/>
    <p:sldId id="262" r:id="rId6"/>
    <p:sldId id="258" r:id="rId7"/>
    <p:sldId id="284" r:id="rId8"/>
    <p:sldId id="263" r:id="rId9"/>
    <p:sldId id="285" r:id="rId10"/>
    <p:sldId id="264" r:id="rId11"/>
    <p:sldId id="286" r:id="rId12"/>
    <p:sldId id="259" r:id="rId13"/>
    <p:sldId id="265" r:id="rId14"/>
    <p:sldId id="283" r:id="rId15"/>
    <p:sldId id="268" r:id="rId16"/>
    <p:sldId id="269" r:id="rId17"/>
    <p:sldId id="266" r:id="rId18"/>
    <p:sldId id="267" r:id="rId19"/>
    <p:sldId id="270" r:id="rId20"/>
    <p:sldId id="272" r:id="rId21"/>
    <p:sldId id="271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7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CEA508E-3453-47C1-BD82-7B3B15E48D03}">
          <p14:sldIdLst>
            <p14:sldId id="256"/>
          </p14:sldIdLst>
        </p14:section>
        <p14:section name="Listening" id="{131FC7AA-60D2-4320-86CE-5889B183AE8D}">
          <p14:sldIdLst>
            <p14:sldId id="257"/>
            <p14:sldId id="261"/>
          </p14:sldIdLst>
        </p14:section>
        <p14:section name="Reading" id="{A19BB900-9196-49A8-A3A2-80A2ED776A47}">
          <p14:sldIdLst>
            <p14:sldId id="260"/>
            <p14:sldId id="262"/>
          </p14:sldIdLst>
        </p14:section>
        <p14:section name="Writing" id="{4FCBF51D-57B1-4BEF-8B42-DC508A4861C2}">
          <p14:sldIdLst>
            <p14:sldId id="258"/>
            <p14:sldId id="284"/>
            <p14:sldId id="263"/>
            <p14:sldId id="285"/>
            <p14:sldId id="264"/>
            <p14:sldId id="286"/>
          </p14:sldIdLst>
        </p14:section>
        <p14:section name="Speaking" id="{678C2BB3-8E95-4776-9F12-9CBA42FE89C0}">
          <p14:sldIdLst>
            <p14:sldId id="259"/>
            <p14:sldId id="265"/>
            <p14:sldId id="283"/>
            <p14:sldId id="268"/>
            <p14:sldId id="269"/>
          </p14:sldIdLst>
        </p14:section>
        <p14:section name="Grammar zone" id="{7DFE44CD-2474-4B0C-9210-0B8A9026745D}">
          <p14:sldIdLst>
            <p14:sldId id="266"/>
            <p14:sldId id="267"/>
            <p14:sldId id="270"/>
          </p14:sldIdLst>
        </p14:section>
        <p14:section name="Vocabulary" id="{4EE74C11-A50A-45DF-8B9E-0BF396839135}">
          <p14:sldIdLst>
            <p14:sldId id="272"/>
            <p14:sldId id="271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46EE8-74FC-478E-A34F-76C8E20909EA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601E2-5916-4D03-9EEC-4A4832484A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201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601E2-5916-4D03-9EEC-4A4832484A0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2787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EBF8-BBC9-7098-A8E1-96154E21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E6DE4-1998-2207-0918-39C13389C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191C-9189-5039-F63D-EDE19D6F8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65CF-5CDD-6A96-D6D1-37F462EC3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601E2-5916-4D03-9EEC-4A4832484A0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757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031A-E180-2A77-A877-EFC34774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6F54E-EFA6-F577-EF44-4D174BE89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81A81-A14B-902D-7EDC-7D995C324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12861-B330-F125-40B3-687299080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601E2-5916-4D03-9EEC-4A4832484A0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99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417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627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48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755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256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42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1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751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8548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92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84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9561F48-76C1-41D1-8549-29EF0833A153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B12109-9479-4D85-B66C-4EB0242CA8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648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3853-0DC7-6DF7-F918-148F4A4F5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noProof="0" dirty="0"/>
              <a:t>CELPIP General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CB880-E94C-9CE7-5E10-344B6DFD9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noProof="0" dirty="0"/>
              <a:t>Brief notes</a:t>
            </a:r>
          </a:p>
        </p:txBody>
      </p:sp>
    </p:spTree>
    <p:extLst>
      <p:ext uri="{BB962C8B-B14F-4D97-AF65-F5344CB8AC3E}">
        <p14:creationId xmlns:p14="http://schemas.microsoft.com/office/powerpoint/2010/main" val="971032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E15D-A496-1E14-10EC-1C7EBC3D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🎧Listening [47–55 min]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47169B-F20B-92AE-ADE7-80B5B278A8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521546"/>
              </p:ext>
            </p:extLst>
          </p:nvPr>
        </p:nvGraphicFramePr>
        <p:xfrm>
          <a:off x="838200" y="1825625"/>
          <a:ext cx="10515596" cy="4678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0953284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4794218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2453394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2932925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007676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621358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42977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Part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Daily Life 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News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Viewpoints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20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#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8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5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5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8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775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#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two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76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daily-life issue (e.g., booking, complaint, scheduling)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Social context (friends, roommates, colleagues)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announcement, instructions,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News report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Question type: Matching or multiple choice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85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Skill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Identifying solutions, details, opinions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Main ideas and specific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Facts, sequence,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Key facts, cause &amp;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Opinions, agreement/disagreement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Perspective, attitude,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1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Ques. type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Audio only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Audio only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Audio only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MCQ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MCQ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MCQ</a:t>
                      </a:r>
                      <a:endParaRPr lang="en-CA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968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12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A384B8-1823-6634-641B-502A4E05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🎧 Listening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9CBDC-3A75-62C7-B7D9-50E339D75E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sz="2400" noProof="0" dirty="0"/>
              <a:t>During audio:</a:t>
            </a:r>
          </a:p>
          <a:p>
            <a:pPr lvl="1"/>
            <a:r>
              <a:rPr lang="en-CA" sz="2000" noProof="0" dirty="0"/>
              <a:t>Can’t see questions beforehand</a:t>
            </a:r>
          </a:p>
          <a:p>
            <a:pPr lvl="1"/>
            <a:r>
              <a:rPr lang="en-CA" sz="2000" noProof="0" dirty="0"/>
              <a:t>Comprehensive note-taking</a:t>
            </a:r>
          </a:p>
          <a:p>
            <a:pPr lvl="1"/>
            <a:r>
              <a:rPr lang="en-CA" sz="2000" noProof="0" dirty="0"/>
              <a:t>Identify keywords</a:t>
            </a:r>
          </a:p>
          <a:p>
            <a:pPr lvl="1"/>
            <a:r>
              <a:rPr lang="en-CA" sz="2000" noProof="0" dirty="0"/>
              <a:t>Predict possible answers (numbers, reasons, emotions)</a:t>
            </a:r>
          </a:p>
          <a:p>
            <a:r>
              <a:rPr lang="en-CA" sz="2400" noProof="0" dirty="0"/>
              <a:t>Important</a:t>
            </a:r>
          </a:p>
          <a:p>
            <a:pPr lvl="1"/>
            <a:r>
              <a:rPr lang="en-CA" sz="2000" noProof="0" dirty="0"/>
              <a:t>Transitions, tone</a:t>
            </a:r>
          </a:p>
          <a:p>
            <a:pPr lvl="1"/>
            <a:r>
              <a:rPr lang="en-CA" sz="2000" noProof="0" dirty="0"/>
              <a:t>Distractors, corrections</a:t>
            </a:r>
          </a:p>
          <a:p>
            <a:r>
              <a:rPr lang="en-CA" sz="2400" noProof="0" dirty="0"/>
              <a:t>T-Chart and short hand notes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D9D86B-2DC4-7C8E-AD9B-0D8E1B566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Predict questions</a:t>
            </a:r>
          </a:p>
          <a:p>
            <a:pPr lvl="1"/>
            <a:r>
              <a:rPr lang="en-CA" sz="2000" noProof="0" dirty="0"/>
              <a:t>Numbers</a:t>
            </a:r>
          </a:p>
          <a:p>
            <a:pPr lvl="1"/>
            <a:r>
              <a:rPr lang="en-CA" sz="2000" noProof="0" dirty="0"/>
              <a:t>Relationships</a:t>
            </a:r>
          </a:p>
          <a:p>
            <a:pPr lvl="1"/>
            <a:r>
              <a:rPr lang="en-CA" sz="2000" noProof="0" dirty="0"/>
              <a:t>Feelings, transitions</a:t>
            </a:r>
          </a:p>
          <a:p>
            <a:r>
              <a:rPr lang="en-CA" sz="2400" noProof="0" dirty="0"/>
              <a:t>If unsure</a:t>
            </a:r>
          </a:p>
          <a:p>
            <a:pPr lvl="1"/>
            <a:r>
              <a:rPr lang="en-CA" sz="2000" noProof="0" dirty="0"/>
              <a:t>Eliminate wrong answers</a:t>
            </a:r>
          </a:p>
          <a:p>
            <a:r>
              <a:rPr lang="en-CA" sz="2400" noProof="0" dirty="0"/>
              <a:t>Stay calm during listening mistakes</a:t>
            </a:r>
          </a:p>
        </p:txBody>
      </p:sp>
    </p:spTree>
    <p:extLst>
      <p:ext uri="{BB962C8B-B14F-4D97-AF65-F5344CB8AC3E}">
        <p14:creationId xmlns:p14="http://schemas.microsoft.com/office/powerpoint/2010/main" val="409743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264B-A3FB-56EB-1666-100F5BBD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C861-7E15-3457-516D-86AFEB64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📚 Reading [55-60 min]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39949-469A-2CF7-4BF8-B982A6E4F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69709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95328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479421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245339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293292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0076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Part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Reading Correspondence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Apply a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Viewpoints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20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#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11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8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9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10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775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Question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Multiple choice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Fill-in-the-blank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Multiple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Multiple choice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Matching headings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Multiple choice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Matching opinions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76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Email, message,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Diagram, schedule, table,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Informational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Opinion article or persuasive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85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Skill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Purpose, tone,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Locating and applying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Main idea, supporting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Inference, attitude, argument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1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78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61F7-E090-7FF6-0C30-729576D3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4E2553-9DAF-FA63-4664-65C46C9F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📚 Reading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69BEE-3114-2802-96A1-4757056BC6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sz="2400" noProof="0" dirty="0"/>
              <a:t>Before reading passage:</a:t>
            </a:r>
          </a:p>
          <a:p>
            <a:pPr lvl="1"/>
            <a:r>
              <a:rPr lang="en-CA" sz="2000" noProof="0" dirty="0"/>
              <a:t>Read questions first</a:t>
            </a:r>
          </a:p>
          <a:p>
            <a:pPr lvl="1"/>
            <a:r>
              <a:rPr lang="en-CA" sz="2000" noProof="0" dirty="0"/>
              <a:t>Identify keywords</a:t>
            </a:r>
          </a:p>
          <a:p>
            <a:pPr lvl="1"/>
            <a:r>
              <a:rPr lang="en-CA" sz="2000" noProof="0" dirty="0"/>
              <a:t>Scan keywords in text</a:t>
            </a:r>
          </a:p>
          <a:p>
            <a:r>
              <a:rPr lang="en-CA" sz="2400" noProof="0" dirty="0"/>
              <a:t>Diagrams</a:t>
            </a:r>
          </a:p>
          <a:p>
            <a:pPr lvl="1"/>
            <a:r>
              <a:rPr lang="en-CA" sz="2000" noProof="0" dirty="0"/>
              <a:t>Read legends, footnotes</a:t>
            </a:r>
          </a:p>
          <a:p>
            <a:r>
              <a:rPr lang="en-CA" sz="2400" noProof="0" dirty="0"/>
              <a:t>Tone recognition</a:t>
            </a:r>
          </a:p>
          <a:p>
            <a:pPr lvl="1"/>
            <a:r>
              <a:rPr lang="en-CA" sz="2000" noProof="0" dirty="0"/>
              <a:t>Bias</a:t>
            </a:r>
          </a:p>
          <a:p>
            <a:r>
              <a:rPr lang="en-CA" sz="2400" noProof="0" dirty="0"/>
              <a:t>Skim</a:t>
            </a:r>
          </a:p>
          <a:p>
            <a:pPr lvl="1"/>
            <a:r>
              <a:rPr lang="en-CA" sz="2000" noProof="0" dirty="0"/>
              <a:t>Hunt, not read first time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CF8664-6E33-09E1-37B8-E6C2531F7D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Eliminate two clearly wrong answers</a:t>
            </a:r>
            <a:endParaRPr lang="en-CA" sz="2000" noProof="0" dirty="0"/>
          </a:p>
          <a:p>
            <a:r>
              <a:rPr lang="en-CA" sz="2400" noProof="0" dirty="0"/>
              <a:t>Match information</a:t>
            </a:r>
          </a:p>
          <a:p>
            <a:pPr lvl="1"/>
            <a:r>
              <a:rPr lang="en-CA" sz="2000" noProof="0" dirty="0"/>
              <a:t>Do similar at same time, same paragraph, multiple questions</a:t>
            </a:r>
          </a:p>
        </p:txBody>
      </p:sp>
    </p:spTree>
    <p:extLst>
      <p:ext uri="{BB962C8B-B14F-4D97-AF65-F5344CB8AC3E}">
        <p14:creationId xmlns:p14="http://schemas.microsoft.com/office/powerpoint/2010/main" val="122479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C0A8-06DD-CDFA-39E0-5599B0DE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91EE-CEB0-ECB4-2DBA-E081C22B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[53-60 min]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00B0FD-2E04-056D-15C8-67CE09144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481462"/>
              </p:ext>
            </p:extLst>
          </p:nvPr>
        </p:nvGraphicFramePr>
        <p:xfrm>
          <a:off x="838200" y="1825625"/>
          <a:ext cx="10515600" cy="43078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95328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479421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42977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Task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Writing an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Responding to Survey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20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#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150 –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noProof="0" dirty="0"/>
                        <a:t>150 –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775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Formal or semi-formal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opinion essay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76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Complaint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Request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Apology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Choose one of two options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Explain and justify your choice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Similar to an opinion essay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855058"/>
                  </a:ext>
                </a:extLst>
              </a:tr>
              <a:tr h="154849">
                <a:tc>
                  <a:txBody>
                    <a:bodyPr/>
                    <a:lstStyle/>
                    <a:p>
                      <a:r>
                        <a:rPr lang="en-CA" noProof="0" dirty="0"/>
                        <a:t>Assessment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Content &amp; coherence – clear message, quality ideas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Vocabulary range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Readability / Comprehensibility – grammar, connectors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Task fulfillment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noProof="0" dirty="0"/>
                        <a:t>Content &amp; coherence 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Vocabulary range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Readability / Comprehensibility – grammar, connectors</a:t>
                      </a:r>
                    </a:p>
                    <a:p>
                      <a:pPr>
                        <a:buNone/>
                      </a:pPr>
                      <a:r>
                        <a:rPr lang="en-CA" noProof="0" dirty="0"/>
                        <a:t>Task fulfillment – argument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1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445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F35B-0449-0A87-3804-1D91B8B0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69B1-79A5-30C0-7033-83D75E77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– Task 1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C2AACD1-F46E-0181-BF1E-62DC6B4B1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414728"/>
              </p:ext>
            </p:extLst>
          </p:nvPr>
        </p:nvGraphicFramePr>
        <p:xfrm>
          <a:off x="838200" y="1825625"/>
          <a:ext cx="10515600" cy="47294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865476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172949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85574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5380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Thematic Domain</a:t>
                      </a:r>
                      <a:endParaRPr lang="en-CA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Implied Register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Primary Cognitive Task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Evaluative Focus for CLB 10+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5807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Complaints &amp; Disputes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Formal / Professional</a:t>
                      </a:r>
                      <a:endParaRPr lang="en-CA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Describing a systemic failure or product defect and demanding structured resolution.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 of objective, non-aggressive language; precise description of mechanisms; deployment of </a:t>
                      </a:r>
                      <a:r>
                        <a:rPr lang="en-US" sz="14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passive voice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745506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Requests &amp; Inquiries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0" u="none" strike="noStrike">
                          <a:solidFill>
                            <a:schemeClr val="tx1"/>
                          </a:solidFill>
                          <a:effectLst/>
                        </a:rPr>
                        <a:t>Formal / Semi-Formal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sz="1400" b="0" u="none" strike="noStrike">
                          <a:solidFill>
                            <a:schemeClr val="tx1"/>
                          </a:solidFill>
                          <a:effectLst/>
                        </a:rPr>
                        <a:t>Seeking specific information, permissions, or professional recommendations.</a:t>
                      </a:r>
                      <a:r>
                        <a:rPr lang="en-CA" sz="1600" b="0" u="none" strike="noStrike" baseline="3000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Utilization of modal verbs for polite requests; clear articulation of </a:t>
                      </a:r>
                      <a:r>
                        <a:rPr lang="en-US" sz="14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conditional outcomes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5803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Explanations &amp; Apologies</a:t>
                      </a:r>
                      <a:endParaRPr lang="en-CA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0" u="none" strike="noStrike">
                          <a:solidFill>
                            <a:schemeClr val="tx1"/>
                          </a:solidFill>
                          <a:effectLst/>
                        </a:rPr>
                        <a:t>Semi-Formal / Informal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effectLst/>
                        </a:rPr>
                        <a:t>Explaining mitigating circumstances for a failure, delay, or social breach.</a:t>
                      </a:r>
                      <a:r>
                        <a:rPr lang="en-US" sz="1600" b="0" u="none" strike="noStrike" baseline="3000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Demonstration of empathetic tone; logical sequencing of past events utilizing </a:t>
                      </a:r>
                      <a:r>
                        <a:rPr lang="en-US" sz="14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perfect tenses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85316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Social &amp; Colleague Support</a:t>
                      </a:r>
                      <a:endParaRPr lang="en-CA" sz="24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CA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Informal / Semi-Formal</a:t>
                      </a:r>
                      <a:endParaRPr lang="en-CA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Congratulating, advising, or coordinating logistics with peers or friends.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Natural phrasing, appropriate use of </a:t>
                      </a:r>
                      <a:r>
                        <a:rPr lang="en-US" sz="14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phrasal verbs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, and maintenance of conversational flow without resorting to slang.</a:t>
                      </a:r>
                      <a:r>
                        <a:rPr lang="en-US" sz="1600" b="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73655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73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247A-C018-078C-C4B6-6918B6F7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D3E13-FAE6-19B3-F7E7-6D3F996F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6B235-11E6-EB78-641D-19CE0E2C68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400" b="1" noProof="0" dirty="0"/>
              <a:t>📧 TASK 1 – Email</a:t>
            </a:r>
          </a:p>
          <a:p>
            <a:r>
              <a:rPr lang="en-CA" sz="2400" b="1" noProof="0" dirty="0"/>
              <a:t>Opening</a:t>
            </a:r>
            <a:endParaRPr lang="en-CA" sz="2400" noProof="0" dirty="0"/>
          </a:p>
          <a:p>
            <a:pPr lvl="1"/>
            <a:r>
              <a:rPr lang="en-CA" sz="2000" noProof="0" dirty="0"/>
              <a:t>Purpose statement - straightforward</a:t>
            </a:r>
          </a:p>
          <a:p>
            <a:pPr lvl="1"/>
            <a:r>
              <a:rPr lang="en-CA" sz="2000" noProof="0" dirty="0">
                <a:solidFill>
                  <a:srgbClr val="FFC000"/>
                </a:solidFill>
              </a:rPr>
              <a:t>Polite tone</a:t>
            </a:r>
          </a:p>
          <a:p>
            <a:r>
              <a:rPr lang="en-CA" sz="2400" b="1" noProof="0" dirty="0"/>
              <a:t>Body Paragraph 1,2,3</a:t>
            </a:r>
            <a:endParaRPr lang="en-CA" sz="2400" noProof="0" dirty="0"/>
          </a:p>
          <a:p>
            <a:pPr lvl="1"/>
            <a:r>
              <a:rPr lang="en-CA" sz="2000" noProof="0" dirty="0"/>
              <a:t>Each bullet point</a:t>
            </a:r>
          </a:p>
          <a:p>
            <a:pPr lvl="1"/>
            <a:r>
              <a:rPr lang="en-CA" sz="2000" noProof="0" dirty="0"/>
              <a:t>2-3 ideas, details with examples</a:t>
            </a:r>
          </a:p>
          <a:p>
            <a:r>
              <a:rPr lang="en-CA" sz="2400" b="1" noProof="0" dirty="0"/>
              <a:t>Body Paragraph 2 ???</a:t>
            </a:r>
            <a:endParaRPr lang="en-CA" sz="2400" noProof="0" dirty="0"/>
          </a:p>
          <a:p>
            <a:pPr lvl="1"/>
            <a:r>
              <a:rPr lang="en-CA" sz="2000" noProof="0" dirty="0"/>
              <a:t>Solution/request</a:t>
            </a:r>
          </a:p>
          <a:p>
            <a:pPr lvl="1"/>
            <a:r>
              <a:rPr lang="en-CA" sz="2000" noProof="0" dirty="0"/>
              <a:t>Justification</a:t>
            </a:r>
          </a:p>
          <a:p>
            <a:r>
              <a:rPr lang="en-CA" sz="2400" b="1" noProof="0" dirty="0"/>
              <a:t>Closing</a:t>
            </a:r>
            <a:endParaRPr lang="en-CA" sz="2400" noProof="0" dirty="0"/>
          </a:p>
          <a:p>
            <a:pPr lvl="1"/>
            <a:r>
              <a:rPr lang="en-CA" sz="2000" noProof="0" dirty="0"/>
              <a:t>Clear action request</a:t>
            </a:r>
          </a:p>
          <a:p>
            <a:pPr lvl="1"/>
            <a:r>
              <a:rPr lang="en-CA" sz="2000" noProof="0" dirty="0"/>
              <a:t>Professional sign-off (adjust for the situation)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713FE4-F961-72F8-B821-579F9F530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400" b="1" noProof="0" dirty="0"/>
              <a:t>✍️ TASK 2 – Survey Response</a:t>
            </a:r>
          </a:p>
          <a:p>
            <a:r>
              <a:rPr lang="en-CA" sz="2400" b="1" noProof="0" dirty="0"/>
              <a:t>Introduction</a:t>
            </a:r>
            <a:endParaRPr lang="en-CA" sz="2400" noProof="0" dirty="0"/>
          </a:p>
          <a:p>
            <a:pPr lvl="1"/>
            <a:r>
              <a:rPr lang="en-CA" sz="2000" noProof="0" dirty="0"/>
              <a:t>General statement, Clear position</a:t>
            </a:r>
          </a:p>
          <a:p>
            <a:r>
              <a:rPr lang="en-CA" sz="2400" b="1" noProof="0" dirty="0"/>
              <a:t>Body 1</a:t>
            </a:r>
            <a:endParaRPr lang="en-CA" sz="2400" noProof="0" dirty="0"/>
          </a:p>
          <a:p>
            <a:pPr lvl="1"/>
            <a:r>
              <a:rPr lang="en-CA" sz="2000" noProof="0" dirty="0"/>
              <a:t>Idea, reason, evidence/example</a:t>
            </a:r>
          </a:p>
          <a:p>
            <a:r>
              <a:rPr lang="en-CA" sz="2400" b="1" noProof="0" dirty="0"/>
              <a:t>Body 2</a:t>
            </a:r>
            <a:endParaRPr lang="en-CA" sz="2400" noProof="0" dirty="0"/>
          </a:p>
          <a:p>
            <a:pPr lvl="1"/>
            <a:r>
              <a:rPr lang="en-CA" sz="2000" noProof="0" dirty="0"/>
              <a:t>Idea, reason, evidence/example</a:t>
            </a:r>
          </a:p>
          <a:p>
            <a:r>
              <a:rPr lang="en-CA" sz="2400" b="1" noProof="0" dirty="0"/>
              <a:t>Conclusion</a:t>
            </a:r>
            <a:endParaRPr lang="en-CA" sz="2400" noProof="0" dirty="0"/>
          </a:p>
          <a:p>
            <a:pPr lvl="1"/>
            <a:r>
              <a:rPr lang="en-CA" sz="2000" noProof="0" dirty="0"/>
              <a:t>Restate position strongly</a:t>
            </a:r>
          </a:p>
          <a:p>
            <a:pPr lvl="1"/>
            <a:r>
              <a:rPr lang="en-CA" sz="2000" noProof="0" dirty="0"/>
              <a:t>Discussed points</a:t>
            </a:r>
          </a:p>
          <a:p>
            <a:pPr lvl="1"/>
            <a:r>
              <a:rPr lang="en-CA" sz="2000" noProof="0" dirty="0"/>
              <a:t>My opinion</a:t>
            </a:r>
          </a:p>
          <a:p>
            <a:pPr marL="0" indent="0">
              <a:buNone/>
            </a:pPr>
            <a:r>
              <a:rPr lang="en-CA" sz="2400" noProof="0" dirty="0"/>
              <a:t>🚫 Avoid memorized essays</a:t>
            </a:r>
          </a:p>
        </p:txBody>
      </p:sp>
    </p:spTree>
    <p:extLst>
      <p:ext uri="{BB962C8B-B14F-4D97-AF65-F5344CB8AC3E}">
        <p14:creationId xmlns:p14="http://schemas.microsoft.com/office/powerpoint/2010/main" val="117267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E228-6E8B-F969-A19B-4A069A32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157586-7DC0-28B7-0C75-48D9FA2F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8339F-8083-A562-6918-A63153F01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Use complex, varied sentences</a:t>
            </a:r>
          </a:p>
          <a:p>
            <a:pPr lvl="1"/>
            <a:r>
              <a:rPr lang="en-CA" sz="2000" noProof="0" dirty="0"/>
              <a:t>Compound sentences</a:t>
            </a:r>
          </a:p>
          <a:p>
            <a:r>
              <a:rPr lang="en-CA" sz="2400" noProof="0" dirty="0"/>
              <a:t>Connectors</a:t>
            </a:r>
          </a:p>
          <a:p>
            <a:r>
              <a:rPr lang="en-CA" sz="2400" noProof="0" dirty="0"/>
              <a:t>Phrasal verbs</a:t>
            </a:r>
          </a:p>
          <a:p>
            <a:r>
              <a:rPr lang="en-CA" sz="2400" noProof="0" dirty="0"/>
              <a:t>Only words u know  100%, not crazy but appropriate</a:t>
            </a:r>
          </a:p>
          <a:p>
            <a:r>
              <a:rPr lang="en-CA" sz="2400" noProof="0" dirty="0"/>
              <a:t>Time management (25 min)</a:t>
            </a:r>
          </a:p>
          <a:p>
            <a:r>
              <a:rPr lang="en-CA" sz="2400" noProof="0" dirty="0"/>
              <a:t>No repetitions</a:t>
            </a:r>
          </a:p>
          <a:p>
            <a:pPr lvl="1"/>
            <a:r>
              <a:rPr lang="en-CA" sz="2000" noProof="0" dirty="0"/>
              <a:t>Use synonyms</a:t>
            </a:r>
          </a:p>
          <a:p>
            <a:r>
              <a:rPr lang="en-CA" sz="2000" noProof="0" dirty="0"/>
              <a:t>Use semi-formal language</a:t>
            </a:r>
          </a:p>
          <a:p>
            <a:endParaRPr lang="en-CA" sz="2000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379B45-5E46-2A74-2942-82CA7FCC6D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Time management :: Total 27min</a:t>
            </a:r>
          </a:p>
          <a:p>
            <a:pPr lvl="1"/>
            <a:r>
              <a:rPr lang="en-CA" sz="2000" noProof="0" dirty="0"/>
              <a:t>Plan :: 2 min, write :: 23 min, check :: 2min</a:t>
            </a:r>
          </a:p>
          <a:p>
            <a:r>
              <a:rPr lang="en-CA" sz="2400" noProof="0" dirty="0"/>
              <a:t>Transitions and flow between sentences and paragraphs</a:t>
            </a:r>
          </a:p>
          <a:p>
            <a:r>
              <a:rPr lang="en-CA" sz="2400" noProof="0" dirty="0"/>
              <a:t>Proofread per paragraph – less overwhelming</a:t>
            </a:r>
          </a:p>
          <a:p>
            <a:r>
              <a:rPr lang="en-CA" sz="2400" noProof="0" dirty="0"/>
              <a:t>Creative flow</a:t>
            </a:r>
          </a:p>
          <a:p>
            <a:pPr lvl="1"/>
            <a:r>
              <a:rPr lang="en-CA" sz="1600" noProof="0" dirty="0"/>
              <a:t>Not ground-breaking, obvious, common</a:t>
            </a:r>
          </a:p>
          <a:p>
            <a:pPr lvl="1"/>
            <a:r>
              <a:rPr lang="en-CA" sz="1600" noProof="0" dirty="0"/>
              <a:t>Reasonable and make sense</a:t>
            </a:r>
          </a:p>
          <a:p>
            <a:r>
              <a:rPr lang="en-CA" sz="2000" noProof="0" dirty="0"/>
              <a:t>Paraphrase and add detail prompt</a:t>
            </a:r>
          </a:p>
          <a:p>
            <a:pPr lvl="1"/>
            <a:r>
              <a:rPr lang="en-CA" sz="1600" dirty="0"/>
              <a:t>When, how much, what, where</a:t>
            </a:r>
            <a:endParaRPr lang="en-CA" sz="1600" noProof="0" dirty="0"/>
          </a:p>
          <a:p>
            <a:pPr lvl="1"/>
            <a:endParaRPr lang="en-CA" sz="2000" noProof="0" dirty="0"/>
          </a:p>
        </p:txBody>
      </p:sp>
    </p:spTree>
    <p:extLst>
      <p:ext uri="{BB962C8B-B14F-4D97-AF65-F5344CB8AC3E}">
        <p14:creationId xmlns:p14="http://schemas.microsoft.com/office/powerpoint/2010/main" val="4160448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491B-7752-10B1-435D-DBC45F4A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AD3BD4-EAEC-5BDE-CA20-C419AF2E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– 💡Task 1 Vocabulary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B0F0C-A39F-1966-0141-2626AEB52E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noProof="0" dirty="0"/>
              <a:t>Complaints / Disputes</a:t>
            </a:r>
          </a:p>
          <a:p>
            <a:pPr lvl="1"/>
            <a:r>
              <a:rPr lang="en-US" sz="1800" dirty="0"/>
              <a:t>Prompt resolution</a:t>
            </a:r>
          </a:p>
          <a:p>
            <a:pPr lvl="1"/>
            <a:r>
              <a:rPr lang="en-US" sz="1800" noProof="0" dirty="0"/>
              <a:t>Formally express</a:t>
            </a:r>
            <a:endParaRPr lang="en-US" sz="1800" dirty="0"/>
          </a:p>
          <a:p>
            <a:pPr lvl="1"/>
            <a:r>
              <a:rPr lang="en-US" sz="1800" noProof="0" dirty="0"/>
              <a:t>I would accept</a:t>
            </a:r>
          </a:p>
          <a:p>
            <a:pPr lvl="1"/>
            <a:r>
              <a:rPr lang="en-US" sz="1800" noProof="0" dirty="0"/>
              <a:t>Given stark discrepancy</a:t>
            </a:r>
          </a:p>
          <a:p>
            <a:r>
              <a:rPr lang="en-CA" sz="2400" noProof="0" dirty="0"/>
              <a:t>Requests/ Inquiries</a:t>
            </a:r>
          </a:p>
          <a:p>
            <a:pPr lvl="1"/>
            <a:r>
              <a:rPr lang="en-CA" sz="1800" dirty="0"/>
              <a:t>Writing to inquire</a:t>
            </a:r>
          </a:p>
          <a:p>
            <a:pPr lvl="1"/>
            <a:r>
              <a:rPr lang="en-CA" sz="1800" dirty="0"/>
              <a:t>On behalf of</a:t>
            </a:r>
          </a:p>
          <a:p>
            <a:pPr lvl="1"/>
            <a:r>
              <a:rPr lang="en-CA" sz="1800" dirty="0"/>
              <a:t>Formally submit</a:t>
            </a:r>
          </a:p>
          <a:p>
            <a:pPr lvl="1"/>
            <a:r>
              <a:rPr lang="en-CA" sz="1800" dirty="0"/>
              <a:t>Express profound interest</a:t>
            </a:r>
          </a:p>
          <a:p>
            <a:pPr lvl="1"/>
            <a:r>
              <a:rPr lang="en-CA" sz="1800" noProof="0" dirty="0"/>
              <a:t>Could </a:t>
            </a:r>
            <a:r>
              <a:rPr lang="en-CA" sz="1800" dirty="0"/>
              <a:t>you / would you</a:t>
            </a:r>
          </a:p>
          <a:p>
            <a:pPr lvl="1"/>
            <a:r>
              <a:rPr lang="en-CA" sz="1800" noProof="0" dirty="0"/>
              <a:t>Kindly pro</a:t>
            </a:r>
            <a:r>
              <a:rPr lang="en-CA" sz="1800" dirty="0"/>
              <a:t>vide</a:t>
            </a:r>
          </a:p>
          <a:p>
            <a:pPr lvl="1"/>
            <a:r>
              <a:rPr lang="en-CA" sz="1800" dirty="0"/>
              <a:t>Prompt response</a:t>
            </a:r>
          </a:p>
          <a:p>
            <a:pPr lvl="1"/>
            <a:r>
              <a:rPr lang="en-CA" sz="1800" noProof="0" dirty="0"/>
              <a:t>TY for </a:t>
            </a:r>
            <a:r>
              <a:rPr lang="en-CA" sz="1800" noProof="0" dirty="0" err="1"/>
              <a:t>ur</a:t>
            </a:r>
            <a:r>
              <a:rPr lang="en-CA" sz="1800" noProof="0" dirty="0"/>
              <a:t> time and assistance/consideration</a:t>
            </a:r>
          </a:p>
          <a:p>
            <a:pPr lvl="1"/>
            <a:endParaRPr lang="en-CA" sz="1800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561AA4-43DF-4362-7360-016F6D55C4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CA" sz="2400" dirty="0"/>
              <a:t>Explanations &amp; apologies</a:t>
            </a:r>
          </a:p>
          <a:p>
            <a:pPr lvl="1"/>
            <a:r>
              <a:rPr lang="en-CA" sz="2000" dirty="0"/>
              <a:t>Would appreciate</a:t>
            </a:r>
          </a:p>
          <a:p>
            <a:pPr lvl="1"/>
            <a:r>
              <a:rPr lang="en-CA" sz="2000" dirty="0"/>
              <a:t>Kindly inform</a:t>
            </a:r>
          </a:p>
          <a:p>
            <a:pPr lvl="1"/>
            <a:r>
              <a:rPr lang="en-CA" sz="2000" dirty="0"/>
              <a:t>Deeply appreciate</a:t>
            </a:r>
          </a:p>
          <a:p>
            <a:pPr lvl="1"/>
            <a:r>
              <a:rPr lang="en-CA" sz="2000" dirty="0"/>
              <a:t>Writing to discuss</a:t>
            </a:r>
          </a:p>
          <a:p>
            <a:pPr lvl="1"/>
            <a:r>
              <a:rPr lang="en-CA" sz="2000" dirty="0"/>
              <a:t>TY for </a:t>
            </a:r>
            <a:r>
              <a:rPr lang="en-CA" sz="2000" dirty="0" err="1"/>
              <a:t>ur</a:t>
            </a:r>
            <a:r>
              <a:rPr lang="en-CA" sz="2000" dirty="0"/>
              <a:t> understanding</a:t>
            </a:r>
          </a:p>
          <a:p>
            <a:r>
              <a:rPr lang="en-CA" sz="2400" dirty="0"/>
              <a:t>Social &amp; colleague support</a:t>
            </a:r>
          </a:p>
          <a:p>
            <a:pPr lvl="1"/>
            <a:r>
              <a:rPr lang="en-CA" sz="2000" noProof="0" dirty="0"/>
              <a:t>Best regards</a:t>
            </a:r>
          </a:p>
          <a:p>
            <a:pPr lvl="1"/>
            <a:r>
              <a:rPr lang="en-CA" sz="2000" dirty="0"/>
              <a:t>Hope this … finds u well</a:t>
            </a:r>
            <a:endParaRPr lang="en-CA" sz="2000" noProof="0" dirty="0"/>
          </a:p>
          <a:p>
            <a:pPr lvl="1"/>
            <a:r>
              <a:rPr lang="en-CA" sz="2000" noProof="0" dirty="0"/>
              <a:t>Warmest regards</a:t>
            </a:r>
          </a:p>
          <a:p>
            <a:pPr lvl="1"/>
            <a:r>
              <a:rPr lang="en-CA" sz="2000" dirty="0"/>
              <a:t>John or Mr. John</a:t>
            </a:r>
          </a:p>
          <a:p>
            <a:pPr lvl="1"/>
            <a:r>
              <a:rPr lang="en-CA" sz="2000" noProof="0" dirty="0"/>
              <a:t>Hope you can make it</a:t>
            </a:r>
          </a:p>
        </p:txBody>
      </p:sp>
    </p:spTree>
    <p:extLst>
      <p:ext uri="{BB962C8B-B14F-4D97-AF65-F5344CB8AC3E}">
        <p14:creationId xmlns:p14="http://schemas.microsoft.com/office/powerpoint/2010/main" val="88903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B4E4-EA43-3EEB-51B3-0091D8B6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C81B7F-88EC-BA06-4A3F-C871EFC9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✒️ Writing – 💡Task </a:t>
            </a:r>
            <a:r>
              <a:rPr lang="en-CA" dirty="0"/>
              <a:t>2 Reasoning</a:t>
            </a:r>
            <a:endParaRPr lang="en-CA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B3363-EF9C-6C7C-3909-F711105D2E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noProof="0" dirty="0"/>
              <a:t>Opening</a:t>
            </a:r>
          </a:p>
          <a:p>
            <a:pPr lvl="1"/>
            <a:r>
              <a:rPr lang="en-US" sz="2000" dirty="0"/>
              <a:t>More beneficial choice for [reason]</a:t>
            </a:r>
          </a:p>
          <a:p>
            <a:pPr lvl="1"/>
            <a:r>
              <a:rPr lang="en-US" sz="2000" dirty="0"/>
              <a:t>Practical and impactful solution than</a:t>
            </a:r>
          </a:p>
          <a:p>
            <a:pPr lvl="1"/>
            <a:r>
              <a:rPr lang="en-US" sz="2000" noProof="0" dirty="0"/>
              <a:t>As</a:t>
            </a:r>
            <a:r>
              <a:rPr lang="en-US" sz="2000" dirty="0"/>
              <a:t> it addresses [</a:t>
            </a:r>
            <a:r>
              <a:rPr lang="en-US" sz="2000" dirty="0">
                <a:solidFill>
                  <a:srgbClr val="FFC000"/>
                </a:solidFill>
              </a:rPr>
              <a:t>core need</a:t>
            </a:r>
            <a:r>
              <a:rPr lang="en-US" sz="2000" dirty="0"/>
              <a:t>] far more effectively than</a:t>
            </a:r>
          </a:p>
          <a:p>
            <a:pPr lvl="1"/>
            <a:r>
              <a:rPr lang="en-US" sz="2000" noProof="0" dirty="0"/>
              <a:t>Several compelling reasons</a:t>
            </a:r>
          </a:p>
          <a:p>
            <a:pPr lvl="1"/>
            <a:r>
              <a:rPr lang="en-US" sz="2000" dirty="0"/>
              <a:t>Stands out as the clearly superior choice</a:t>
            </a:r>
          </a:p>
          <a:p>
            <a:r>
              <a:rPr lang="en-US" sz="2400" noProof="0" dirty="0"/>
              <a:t>Closing</a:t>
            </a:r>
          </a:p>
          <a:p>
            <a:pPr lvl="1"/>
            <a:r>
              <a:rPr lang="en-US" sz="2000" dirty="0"/>
              <a:t>For these reasons, I am firmly in support of … deliver the greatest benefit</a:t>
            </a:r>
          </a:p>
          <a:p>
            <a:pPr lvl="1"/>
            <a:r>
              <a:rPr lang="en-US" sz="2000" noProof="0" dirty="0"/>
              <a:t>In </a:t>
            </a:r>
            <a:r>
              <a:rPr lang="en-US" sz="2000" dirty="0"/>
              <a:t>conclusion, .. Represents the </a:t>
            </a:r>
            <a:r>
              <a:rPr lang="en-US" sz="2000" dirty="0">
                <a:solidFill>
                  <a:srgbClr val="FFC000"/>
                </a:solidFill>
              </a:rPr>
              <a:t>stronger choice</a:t>
            </a:r>
          </a:p>
          <a:p>
            <a:pPr lvl="1"/>
            <a:r>
              <a:rPr lang="en-US" sz="2000" noProof="0" dirty="0"/>
              <a:t>Taking all factors into account.. Emerges as the most </a:t>
            </a:r>
            <a:r>
              <a:rPr lang="en-US" sz="2000" noProof="0" dirty="0">
                <a:solidFill>
                  <a:srgbClr val="FFC000"/>
                </a:solidFill>
              </a:rPr>
              <a:t>well-rounded</a:t>
            </a:r>
            <a:r>
              <a:rPr lang="en-US" sz="2000" noProof="0" dirty="0"/>
              <a:t> solution</a:t>
            </a:r>
          </a:p>
          <a:p>
            <a:pPr lvl="1"/>
            <a:r>
              <a:rPr lang="en-US" sz="2000" dirty="0"/>
              <a:t>Effective/practical/equitable/sustainable</a:t>
            </a:r>
            <a:endParaRPr lang="en-US" sz="2000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DFB7BA-AB9A-CA2F-C7B3-D4E2CB72F6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sz="2400" dirty="0"/>
              <a:t>Arguments body – based on Claude templates</a:t>
            </a:r>
          </a:p>
          <a:p>
            <a:pPr lvl="1"/>
            <a:r>
              <a:rPr lang="en-CA" sz="1900" noProof="0" dirty="0"/>
              <a:t>[</a:t>
            </a:r>
            <a:r>
              <a:rPr lang="en-CA" sz="1900" noProof="0" dirty="0">
                <a:solidFill>
                  <a:srgbClr val="FFC000"/>
                </a:solidFill>
              </a:rPr>
              <a:t>specific advantages</a:t>
            </a:r>
            <a:r>
              <a:rPr lang="en-CA" sz="1900" noProof="0" dirty="0"/>
              <a:t>] &gt;&gt; [</a:t>
            </a:r>
            <a:r>
              <a:rPr lang="en-CA" sz="1900" noProof="0" dirty="0">
                <a:solidFill>
                  <a:srgbClr val="FFC000"/>
                </a:solidFill>
              </a:rPr>
              <a:t>elaboration</a:t>
            </a:r>
            <a:r>
              <a:rPr lang="en-CA" sz="1900" noProof="0" dirty="0"/>
              <a:t>]. &gt;&gt; [</a:t>
            </a:r>
            <a:r>
              <a:rPr lang="en-CA" sz="1900" noProof="0" dirty="0">
                <a:solidFill>
                  <a:srgbClr val="FFC000"/>
                </a:solidFill>
              </a:rPr>
              <a:t>concrete example</a:t>
            </a:r>
            <a:r>
              <a:rPr lang="en-CA" sz="1900" noProof="0" dirty="0"/>
              <a:t>]  &gt;&gt; [</a:t>
            </a:r>
            <a:r>
              <a:rPr lang="en-CA" sz="1900" noProof="0" dirty="0">
                <a:solidFill>
                  <a:srgbClr val="FFC000"/>
                </a:solidFill>
              </a:rPr>
              <a:t>logical conclusion</a:t>
            </a:r>
            <a:r>
              <a:rPr lang="en-CA" sz="1900" noProof="0" dirty="0"/>
              <a:t>]</a:t>
            </a:r>
          </a:p>
          <a:p>
            <a:pPr lvl="1"/>
            <a:r>
              <a:rPr lang="en-CA" sz="1900" dirty="0"/>
              <a:t>[</a:t>
            </a:r>
            <a:r>
              <a:rPr lang="en-CA" sz="1900" dirty="0">
                <a:solidFill>
                  <a:srgbClr val="FFC000"/>
                </a:solidFill>
              </a:rPr>
              <a:t>main reason</a:t>
            </a:r>
            <a:r>
              <a:rPr lang="en-CA" sz="1900" dirty="0"/>
              <a:t>] &gt;&gt; </a:t>
            </a:r>
            <a:r>
              <a:rPr lang="en-CA" sz="1900" dirty="0">
                <a:solidFill>
                  <a:srgbClr val="FFC000"/>
                </a:solidFill>
              </a:rPr>
              <a:t>[positive outcome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drawback</a:t>
            </a:r>
            <a:r>
              <a:rPr lang="en-CA" sz="1900" dirty="0"/>
              <a:t>]</a:t>
            </a:r>
          </a:p>
          <a:p>
            <a:pPr lvl="1"/>
            <a:r>
              <a:rPr lang="en-CA" sz="1900" noProof="0" dirty="0"/>
              <a:t>[</a:t>
            </a:r>
            <a:r>
              <a:rPr lang="en-CA" sz="1900" noProof="0" dirty="0">
                <a:solidFill>
                  <a:srgbClr val="FFC000"/>
                </a:solidFill>
              </a:rPr>
              <a:t>core issue</a:t>
            </a:r>
            <a:r>
              <a:rPr lang="en-CA" sz="1900" dirty="0"/>
              <a:t>] &gt;&gt; </a:t>
            </a:r>
            <a:r>
              <a:rPr lang="en-CA" sz="1900" noProof="0" dirty="0"/>
              <a:t>[</a:t>
            </a:r>
            <a:r>
              <a:rPr lang="en-CA" sz="1900" noProof="0" dirty="0">
                <a:solidFill>
                  <a:srgbClr val="FFC000"/>
                </a:solidFill>
              </a:rPr>
              <a:t>Explanation</a:t>
            </a:r>
            <a:r>
              <a:rPr lang="en-CA" sz="1900" noProof="0" dirty="0"/>
              <a:t>] &gt;&gt; [</a:t>
            </a:r>
            <a:r>
              <a:rPr lang="en-CA" sz="1900" noProof="0" dirty="0">
                <a:solidFill>
                  <a:srgbClr val="FFC000"/>
                </a:solidFill>
              </a:rPr>
              <a:t>affected group</a:t>
            </a:r>
            <a:r>
              <a:rPr lang="en-CA" sz="1900" noProof="0" dirty="0"/>
              <a:t>]</a:t>
            </a:r>
          </a:p>
          <a:p>
            <a:pPr lvl="1"/>
            <a:r>
              <a:rPr lang="en-CA" sz="1900" dirty="0"/>
              <a:t>[</a:t>
            </a:r>
            <a:r>
              <a:rPr lang="en-CA" sz="1900" dirty="0">
                <a:solidFill>
                  <a:srgbClr val="FFC000"/>
                </a:solidFill>
              </a:rPr>
              <a:t>second benefit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limitation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positive outcome</a:t>
            </a:r>
            <a:r>
              <a:rPr lang="en-CA" sz="1900" dirty="0"/>
              <a:t>]</a:t>
            </a:r>
          </a:p>
          <a:p>
            <a:pPr lvl="1"/>
            <a:r>
              <a:rPr lang="en-CA" sz="1900" dirty="0"/>
              <a:t> [</a:t>
            </a:r>
            <a:r>
              <a:rPr lang="en-CA" sz="1900" dirty="0">
                <a:solidFill>
                  <a:srgbClr val="FFC000"/>
                </a:solidFill>
              </a:rPr>
              <a:t>second reason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real world factor</a:t>
            </a:r>
            <a:endParaRPr lang="en-CA" sz="1900" dirty="0"/>
          </a:p>
          <a:p>
            <a:pPr lvl="1"/>
            <a:r>
              <a:rPr lang="en-CA" sz="1900" dirty="0"/>
              <a:t>[</a:t>
            </a:r>
            <a:r>
              <a:rPr lang="en-CA" sz="1900" dirty="0">
                <a:solidFill>
                  <a:srgbClr val="FFC000"/>
                </a:solidFill>
              </a:rPr>
              <a:t>long-term advantage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limitation/risk</a:t>
            </a:r>
            <a:r>
              <a:rPr lang="en-CA" sz="1900" dirty="0"/>
              <a:t>]</a:t>
            </a:r>
          </a:p>
          <a:p>
            <a:r>
              <a:rPr lang="en-CA" sz="2000" noProof="0" dirty="0"/>
              <a:t>Acknowledge</a:t>
            </a:r>
          </a:p>
          <a:p>
            <a:pPr lvl="1"/>
            <a:r>
              <a:rPr lang="en-CA" sz="1900" dirty="0"/>
              <a:t>[</a:t>
            </a:r>
            <a:r>
              <a:rPr lang="en-CA" sz="1900" dirty="0">
                <a:solidFill>
                  <a:srgbClr val="FFC000"/>
                </a:solidFill>
              </a:rPr>
              <a:t>Briefly ack</a:t>
            </a:r>
            <a:r>
              <a:rPr lang="en-CA" sz="1900" dirty="0"/>
              <a:t>] &gt;&gt; [</a:t>
            </a:r>
            <a:r>
              <a:rPr lang="en-CA" sz="1900" dirty="0">
                <a:solidFill>
                  <a:srgbClr val="FFC000"/>
                </a:solidFill>
              </a:rPr>
              <a:t>outweigh</a:t>
            </a:r>
            <a:r>
              <a:rPr lang="en-CA" sz="1900" dirty="0"/>
              <a:t>]</a:t>
            </a:r>
          </a:p>
          <a:p>
            <a:pPr lvl="1"/>
            <a:r>
              <a:rPr lang="en-CA" sz="1900" noProof="0" dirty="0"/>
              <a:t>[</a:t>
            </a:r>
            <a:r>
              <a:rPr lang="en-CA" sz="1900" noProof="0" dirty="0">
                <a:solidFill>
                  <a:srgbClr val="FFC000"/>
                </a:solidFill>
              </a:rPr>
              <a:t>specific value</a:t>
            </a:r>
            <a:r>
              <a:rPr lang="en-CA" sz="1900" noProof="0" dirty="0"/>
              <a:t>] &gt;&gt; [</a:t>
            </a:r>
            <a:r>
              <a:rPr lang="en-CA" sz="1900" noProof="0" dirty="0">
                <a:solidFill>
                  <a:srgbClr val="FFC000"/>
                </a:solidFill>
              </a:rPr>
              <a:t>criteria</a:t>
            </a:r>
            <a:r>
              <a:rPr lang="en-CA" sz="1900" noProof="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31349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B016A-5F07-A755-DCC5-1C8B9681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B8F2-FDAE-EEF9-8350-EC2A053E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🗣️ Speaking [15–20 min]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5BEE2F3-E7F3-EA29-04FD-CCC4BBAF2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8201"/>
              </p:ext>
            </p:extLst>
          </p:nvPr>
        </p:nvGraphicFramePr>
        <p:xfrm>
          <a:off x="838200" y="1825625"/>
          <a:ext cx="10515600" cy="2763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34598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96270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587286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27205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40031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noProof="0" dirty="0"/>
                        <a:t>Task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Giving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Personal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Describing a 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Making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661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Prep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6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Speaking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rgbClr val="FFC000"/>
                          </a:solidFill>
                        </a:rPr>
                        <a:t>90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52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Task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Comparing and Persuading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Difficult 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Expressing Opinions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Unusual Situation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90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Prep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rgbClr val="FFC000"/>
                          </a:solidFill>
                        </a:rPr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rgbClr val="FFC000"/>
                          </a:solidFill>
                        </a:rPr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30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8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Speaking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rgbClr val="FFC000"/>
                          </a:solidFill>
                        </a:rPr>
                        <a:t>90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60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48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2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26F6-531A-75CD-193A-B931EC03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238B4-A580-866D-D3D3-538140BA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🗣️ Speaking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1B69A-C7CE-393A-D6FA-5774552276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Structure X 3</a:t>
            </a:r>
          </a:p>
          <a:p>
            <a:pPr lvl="1"/>
            <a:r>
              <a:rPr lang="en-CA" sz="2100" noProof="0" dirty="0"/>
              <a:t>Opinion/idea</a:t>
            </a:r>
            <a:endParaRPr lang="en-CA" sz="1600" noProof="0" dirty="0"/>
          </a:p>
          <a:p>
            <a:pPr lvl="1"/>
            <a:r>
              <a:rPr lang="en-CA" sz="2100" noProof="0" dirty="0"/>
              <a:t>Reason</a:t>
            </a:r>
          </a:p>
          <a:p>
            <a:pPr lvl="1"/>
            <a:r>
              <a:rPr lang="en-CA" sz="2100" noProof="0" dirty="0"/>
              <a:t>Example</a:t>
            </a:r>
          </a:p>
          <a:p>
            <a:r>
              <a:rPr lang="en-CA" sz="2400" noProof="0" dirty="0"/>
              <a:t>Avoid silence</a:t>
            </a:r>
          </a:p>
          <a:p>
            <a:r>
              <a:rPr lang="en-CA" sz="2400" noProof="0" dirty="0"/>
              <a:t>Transition signals</a:t>
            </a:r>
          </a:p>
          <a:p>
            <a:r>
              <a:rPr lang="en-CA" sz="2400" noProof="0" dirty="0"/>
              <a:t>Don’t overuse connectives</a:t>
            </a:r>
          </a:p>
          <a:p>
            <a:r>
              <a:rPr lang="en-CA" sz="2400" noProof="0" dirty="0"/>
              <a:t>Don’t compromise fluency and coherence</a:t>
            </a:r>
          </a:p>
          <a:p>
            <a:r>
              <a:rPr lang="en-CA" sz="2400" noProof="0" dirty="0"/>
              <a:t>Allow time to finish in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67A017-AF27-2532-C966-97F294057E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Assessment</a:t>
            </a:r>
          </a:p>
          <a:p>
            <a:pPr marL="685800" lvl="2">
              <a:spcBef>
                <a:spcPts val="1000"/>
              </a:spcBef>
            </a:pPr>
            <a:r>
              <a:rPr lang="en-CA" noProof="0" dirty="0"/>
              <a:t>Coherence / meaning</a:t>
            </a:r>
          </a:p>
          <a:p>
            <a:pPr marL="685800" lvl="2">
              <a:spcBef>
                <a:spcPts val="1000"/>
              </a:spcBef>
            </a:pPr>
            <a:r>
              <a:rPr lang="en-CA" noProof="0" dirty="0"/>
              <a:t>Lexical range</a:t>
            </a:r>
          </a:p>
          <a:p>
            <a:pPr marL="685800" lvl="2">
              <a:spcBef>
                <a:spcPts val="1000"/>
              </a:spcBef>
            </a:pPr>
            <a:r>
              <a:rPr lang="en-CA" noProof="0" dirty="0"/>
              <a:t>Listenability / comprehensibility</a:t>
            </a:r>
          </a:p>
          <a:p>
            <a:pPr marL="685800" lvl="2">
              <a:spcBef>
                <a:spcPts val="1000"/>
              </a:spcBef>
            </a:pPr>
            <a:r>
              <a:rPr lang="en-CA" noProof="0" dirty="0"/>
              <a:t>Task fulfillment</a:t>
            </a:r>
          </a:p>
          <a:p>
            <a:r>
              <a:rPr lang="en-CA" sz="2400" noProof="0" dirty="0"/>
              <a:t>Prep time – only key words/points</a:t>
            </a:r>
          </a:p>
          <a:p>
            <a:r>
              <a:rPr lang="en-CA" sz="2400" noProof="0" dirty="0"/>
              <a:t>Sandwich structure</a:t>
            </a:r>
          </a:p>
          <a:p>
            <a:pPr lvl="1"/>
            <a:r>
              <a:rPr lang="en-CA" sz="2000" noProof="0" dirty="0"/>
              <a:t>Intro – directly address the prompt</a:t>
            </a:r>
          </a:p>
          <a:p>
            <a:pPr lvl="1"/>
            <a:r>
              <a:rPr lang="en-CA" sz="2000" noProof="0" dirty="0"/>
              <a:t>Details – transitions</a:t>
            </a:r>
          </a:p>
          <a:p>
            <a:pPr lvl="1"/>
            <a:r>
              <a:rPr lang="en-CA" sz="2000" noProof="0" dirty="0"/>
              <a:t>Conclusion – clear sign-off</a:t>
            </a:r>
          </a:p>
        </p:txBody>
      </p:sp>
    </p:spTree>
    <p:extLst>
      <p:ext uri="{BB962C8B-B14F-4D97-AF65-F5344CB8AC3E}">
        <p14:creationId xmlns:p14="http://schemas.microsoft.com/office/powerpoint/2010/main" val="288571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2DD3-93E9-99EA-BBB9-49B4BF28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200FE3-6CD2-7A1D-D103-C2624A42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🗣️ Speaking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EC304-EF3F-6AB6-632F-DB9E2B6030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Ideating helpers</a:t>
            </a:r>
          </a:p>
          <a:p>
            <a:pPr lvl="1"/>
            <a:r>
              <a:rPr lang="en-CA" sz="2000" noProof="0" dirty="0"/>
              <a:t>IF – cause &amp; effect, criticize, solutions</a:t>
            </a:r>
          </a:p>
          <a:p>
            <a:pPr lvl="1"/>
            <a:r>
              <a:rPr lang="en-CA" sz="2000" dirty="0"/>
              <a:t>MORE – extend ideas</a:t>
            </a:r>
          </a:p>
          <a:p>
            <a:pPr lvl="1"/>
            <a:r>
              <a:rPr lang="en-CA" sz="2000" dirty="0"/>
              <a:t>WHICH – reflect, cause and effect</a:t>
            </a:r>
          </a:p>
          <a:p>
            <a:pPr lvl="1"/>
            <a:r>
              <a:rPr lang="en-CA" sz="2000" noProof="0" dirty="0"/>
              <a:t>SO – conclude  the points</a:t>
            </a:r>
          </a:p>
          <a:p>
            <a:pPr lvl="1"/>
            <a:r>
              <a:rPr lang="en-CA" sz="2000" dirty="0"/>
              <a:t>WHEN - reflect</a:t>
            </a:r>
            <a:endParaRPr lang="en-CA" sz="2000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5530DA-A9A6-4C3F-E429-D865A3434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CA" sz="2000" noProof="0" dirty="0"/>
          </a:p>
        </p:txBody>
      </p:sp>
    </p:spTree>
    <p:extLst>
      <p:ext uri="{BB962C8B-B14F-4D97-AF65-F5344CB8AC3E}">
        <p14:creationId xmlns:p14="http://schemas.microsoft.com/office/powerpoint/2010/main" val="3686913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4AA2-63C5-C605-5D8B-EBC1C707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6143-21DE-B917-43D5-FA99D3C3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🗣️ Speaking – 💡Tips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16C5B-80FC-EE6D-0D16-89BEB4921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sz="2400" noProof="0" dirty="0"/>
              <a:t>Give advice</a:t>
            </a:r>
          </a:p>
          <a:p>
            <a:pPr lvl="1"/>
            <a:r>
              <a:rPr lang="en-CA" sz="2000" noProof="0" dirty="0"/>
              <a:t>You should, why don’t you, if I were you, I would, you might want to try, I hope that helps, good luck</a:t>
            </a:r>
          </a:p>
          <a:p>
            <a:r>
              <a:rPr lang="en-CA" sz="2400" noProof="0" dirty="0"/>
              <a:t>Personal experience – who, what, when, where, why … happened</a:t>
            </a:r>
          </a:p>
          <a:p>
            <a:pPr lvl="1"/>
            <a:r>
              <a:rPr lang="en-CA" sz="2000" noProof="0" dirty="0"/>
              <a:t> Simple past tense, variations of verbs</a:t>
            </a:r>
          </a:p>
          <a:p>
            <a:pPr lvl="1"/>
            <a:r>
              <a:rPr lang="en-CA" sz="2000" noProof="0" dirty="0"/>
              <a:t>Details and descriptions – how it looked, sounded, felt</a:t>
            </a:r>
          </a:p>
          <a:p>
            <a:pPr lvl="1"/>
            <a:r>
              <a:rPr lang="en-CA" sz="2000" dirty="0">
                <a:solidFill>
                  <a:srgbClr val="FFC000"/>
                </a:solidFill>
              </a:rPr>
              <a:t>Make one up</a:t>
            </a:r>
            <a:endParaRPr lang="en-CA" sz="2000" noProof="0" dirty="0">
              <a:solidFill>
                <a:srgbClr val="FFC000"/>
              </a:solidFill>
            </a:endParaRPr>
          </a:p>
          <a:p>
            <a:r>
              <a:rPr lang="en-CA" sz="2400" noProof="0" dirty="0"/>
              <a:t>Describe scene – setting and people </a:t>
            </a:r>
          </a:p>
          <a:p>
            <a:pPr lvl="1"/>
            <a:r>
              <a:rPr lang="en-CA" sz="2000" noProof="0" dirty="0"/>
              <a:t>‘</a:t>
            </a:r>
            <a:r>
              <a:rPr lang="en-CA" sz="2000" noProof="0" dirty="0" err="1"/>
              <a:t>Wh</a:t>
            </a:r>
            <a:r>
              <a:rPr lang="en-CA" sz="2000" noProof="0" dirty="0"/>
              <a:t>’ questions, prepositions of place</a:t>
            </a:r>
          </a:p>
          <a:p>
            <a:pPr lvl="1"/>
            <a:r>
              <a:rPr lang="en-CA" sz="2000" noProof="0" dirty="0"/>
              <a:t>General description → pick key part → present continuous</a:t>
            </a:r>
            <a:endParaRPr lang="en-CA" sz="2400" noProof="0" dirty="0"/>
          </a:p>
          <a:p>
            <a:r>
              <a:rPr lang="en-CA" sz="2400" noProof="0" dirty="0"/>
              <a:t>Make predictions – facts, imagination, probable </a:t>
            </a:r>
          </a:p>
          <a:p>
            <a:pPr lvl="1"/>
            <a:r>
              <a:rPr lang="en-CA" sz="2000" noProof="0" dirty="0"/>
              <a:t>Same picture of task 3 – be accurate, detailed</a:t>
            </a:r>
          </a:p>
          <a:p>
            <a:pPr lvl="1"/>
            <a:r>
              <a:rPr lang="en-CA" sz="2000" noProof="0" dirty="0"/>
              <a:t>Will probably, might, may, could, adverbs (most likely, probably)</a:t>
            </a:r>
          </a:p>
          <a:p>
            <a:pPr lvl="1"/>
            <a:r>
              <a:rPr lang="en-CA" sz="2000" noProof="0" dirty="0"/>
              <a:t>Focus on prediction, not describing again, move to another person relative to the first</a:t>
            </a:r>
          </a:p>
          <a:p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2621466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ED9C-797C-B2C9-77D7-8AE51695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A807-96A1-53DD-D943-E93C0B3A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🗣️ Speaking – 💡Tips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E889B-7EA8-72FD-0E17-17D4881E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400" noProof="0" dirty="0"/>
              <a:t>Compare and persuade - Three parts</a:t>
            </a:r>
          </a:p>
          <a:p>
            <a:pPr lvl="1"/>
            <a:r>
              <a:rPr lang="en-CA" sz="2000" noProof="0" dirty="0"/>
              <a:t>Main differences, three reasons, friendly tone</a:t>
            </a:r>
          </a:p>
          <a:p>
            <a:pPr lvl="1"/>
            <a:r>
              <a:rPr lang="en-CA" sz="2000" noProof="0" dirty="0"/>
              <a:t>Address directly, acknowledge their choice, own words</a:t>
            </a:r>
          </a:p>
          <a:p>
            <a:r>
              <a:rPr lang="en-CA" sz="2400" noProof="0" dirty="0"/>
              <a:t>Difficult Situation - 2 options as solutions</a:t>
            </a:r>
          </a:p>
          <a:p>
            <a:pPr lvl="1"/>
            <a:r>
              <a:rPr lang="en-CA" sz="2000" noProof="0" dirty="0"/>
              <a:t>Directly address the person you choose, enthusiastic tone</a:t>
            </a:r>
          </a:p>
          <a:p>
            <a:pPr lvl="1"/>
            <a:r>
              <a:rPr lang="en-CA" sz="2000" noProof="0" dirty="0"/>
              <a:t>Transitions words – first of all, moreover</a:t>
            </a:r>
          </a:p>
          <a:p>
            <a:pPr lvl="1"/>
            <a:r>
              <a:rPr lang="en-CA" sz="2000" noProof="0" dirty="0"/>
              <a:t>Acknowledge, apologize, solution, reassure</a:t>
            </a:r>
          </a:p>
          <a:p>
            <a:r>
              <a:rPr lang="en-CA" sz="2400" noProof="0" dirty="0"/>
              <a:t>Expressing opinions – agree / disagree</a:t>
            </a:r>
          </a:p>
          <a:p>
            <a:pPr lvl="1"/>
            <a:r>
              <a:rPr lang="en-CA" sz="2000" noProof="0" dirty="0"/>
              <a:t>3 logical / persuasive reasons , “if” to contrast with counter-opinion</a:t>
            </a:r>
          </a:p>
          <a:p>
            <a:r>
              <a:rPr lang="en-CA" sz="2400" noProof="0" dirty="0"/>
              <a:t>Unusual situation - picture</a:t>
            </a:r>
          </a:p>
          <a:p>
            <a:pPr lvl="1"/>
            <a:r>
              <a:rPr lang="en-CA" sz="2000" noProof="0" dirty="0"/>
              <a:t>Make sure to complete all tasks in the prompt</a:t>
            </a:r>
          </a:p>
          <a:p>
            <a:pPr lvl="1"/>
            <a:r>
              <a:rPr lang="en-CA" sz="2000" noProof="0" dirty="0"/>
              <a:t>Listener can visualize based on explanation</a:t>
            </a:r>
          </a:p>
        </p:txBody>
      </p:sp>
    </p:spTree>
    <p:extLst>
      <p:ext uri="{BB962C8B-B14F-4D97-AF65-F5344CB8AC3E}">
        <p14:creationId xmlns:p14="http://schemas.microsoft.com/office/powerpoint/2010/main" val="1096495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E5AA-40D2-CCB6-579E-B42ABF70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58D8C3-69E2-32D7-AA1D-DC657A3F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Grammar zone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B7BC8-050C-8A1E-397D-68B70C3236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400" noProof="0" dirty="0"/>
              <a:t>Subject-verb agreement</a:t>
            </a:r>
          </a:p>
          <a:p>
            <a:r>
              <a:rPr lang="en-CA" sz="2400" noProof="0" dirty="0"/>
              <a:t>Uncountable/countable nouns</a:t>
            </a:r>
          </a:p>
          <a:p>
            <a:r>
              <a:rPr lang="en-CA" sz="2400" noProof="0" dirty="0"/>
              <a:t>Sentence types</a:t>
            </a:r>
          </a:p>
          <a:p>
            <a:pPr lvl="1"/>
            <a:r>
              <a:rPr lang="en-CA" sz="2000" noProof="0" dirty="0"/>
              <a:t>Simple, complex, question, compound, subordinate, model, passive</a:t>
            </a:r>
          </a:p>
          <a:p>
            <a:r>
              <a:rPr lang="en-CA" sz="2000" noProof="0" dirty="0"/>
              <a:t>Relative pronouns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D4B607-3DE7-2F92-98BF-893ADE5C65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400" noProof="0" dirty="0"/>
              <a:t>Subordinate clauses to begin (conjunctions) - 20</a:t>
            </a:r>
          </a:p>
          <a:p>
            <a:endParaRPr lang="en-CA" sz="2400" noProof="0" dirty="0"/>
          </a:p>
          <a:p>
            <a:endParaRPr lang="en-CA" sz="2400" noProof="0" dirty="0"/>
          </a:p>
          <a:p>
            <a:endParaRPr lang="en-CA" sz="2400" noProof="0" dirty="0"/>
          </a:p>
          <a:p>
            <a:endParaRPr lang="en-CA" sz="2400" noProof="0" dirty="0"/>
          </a:p>
          <a:p>
            <a:endParaRPr lang="en-CA" sz="2400" noProof="0" dirty="0"/>
          </a:p>
          <a:p>
            <a:endParaRPr lang="en-CA" sz="2400" noProof="0" dirty="0"/>
          </a:p>
          <a:p>
            <a:r>
              <a:rPr lang="en-CA" sz="2400" dirty="0"/>
              <a:t>Subordinate clause </a:t>
            </a:r>
            <a:r>
              <a:rPr lang="en-CA" sz="2400" noProof="0" dirty="0"/>
              <a:t>If sentence begins with</a:t>
            </a:r>
          </a:p>
          <a:p>
            <a:pPr lvl="1"/>
            <a:r>
              <a:rPr lang="en-CA" sz="1600" noProof="0" dirty="0"/>
              <a:t>Beginning of sentence – comma after</a:t>
            </a:r>
          </a:p>
          <a:p>
            <a:pPr lvl="1"/>
            <a:r>
              <a:rPr lang="en-CA" sz="1600" noProof="0" dirty="0"/>
              <a:t>Main clause – no comma</a:t>
            </a:r>
          </a:p>
          <a:p>
            <a:r>
              <a:rPr lang="en-CA" sz="2400" noProof="0" dirty="0"/>
              <a:t>Coordinating junctions – need comma</a:t>
            </a:r>
          </a:p>
          <a:p>
            <a:pPr lvl="1"/>
            <a:r>
              <a:rPr lang="en-CA" sz="2000" noProof="0" dirty="0"/>
              <a:t>FAANBOYS – for, and, as, nor, but, or, yet, so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67134C-09FB-36AF-D18E-0D498C625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054075"/>
              </p:ext>
            </p:extLst>
          </p:nvPr>
        </p:nvGraphicFramePr>
        <p:xfrm>
          <a:off x="6302828" y="2687320"/>
          <a:ext cx="5685972" cy="185420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421493">
                  <a:extLst>
                    <a:ext uri="{9D8B030D-6E8A-4147-A177-3AD203B41FA5}">
                      <a16:colId xmlns:a16="http://schemas.microsoft.com/office/drawing/2014/main" val="459040858"/>
                    </a:ext>
                  </a:extLst>
                </a:gridCol>
                <a:gridCol w="1421493">
                  <a:extLst>
                    <a:ext uri="{9D8B030D-6E8A-4147-A177-3AD203B41FA5}">
                      <a16:colId xmlns:a16="http://schemas.microsoft.com/office/drawing/2014/main" val="1377006887"/>
                    </a:ext>
                  </a:extLst>
                </a:gridCol>
                <a:gridCol w="1421493">
                  <a:extLst>
                    <a:ext uri="{9D8B030D-6E8A-4147-A177-3AD203B41FA5}">
                      <a16:colId xmlns:a16="http://schemas.microsoft.com/office/drawing/2014/main" val="1918342050"/>
                    </a:ext>
                  </a:extLst>
                </a:gridCol>
                <a:gridCol w="1421493">
                  <a:extLst>
                    <a:ext uri="{9D8B030D-6E8A-4147-A177-3AD203B41FA5}">
                      <a16:colId xmlns:a16="http://schemas.microsoft.com/office/drawing/2014/main" val="3876388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Even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Because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76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Unless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44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Since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Although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Due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Once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25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Until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Even though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Provided that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In order that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62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Rather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So that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0" noProof="0" dirty="0"/>
                        <a:t>Whether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259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E3D03-F628-A67E-CC89-CB56F0C8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888047"/>
              </p:ext>
            </p:extLst>
          </p:nvPr>
        </p:nvGraphicFramePr>
        <p:xfrm>
          <a:off x="1297213" y="3951923"/>
          <a:ext cx="2934304" cy="222504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467152">
                  <a:extLst>
                    <a:ext uri="{9D8B030D-6E8A-4147-A177-3AD203B41FA5}">
                      <a16:colId xmlns:a16="http://schemas.microsoft.com/office/drawing/2014/main" val="3479164041"/>
                    </a:ext>
                  </a:extLst>
                </a:gridCol>
                <a:gridCol w="1467152">
                  <a:extLst>
                    <a:ext uri="{9D8B030D-6E8A-4147-A177-3AD203B41FA5}">
                      <a16:colId xmlns:a16="http://schemas.microsoft.com/office/drawing/2014/main" val="1295756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That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Whichever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7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Whoever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21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Whomever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30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Whom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5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Whenever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9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While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Whereas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459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139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7B308-A06C-0279-980A-DB75270E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1C3A97-6E6A-DD27-14C0-F98DADBA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Grammar zone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4F6F4-C7A2-28CC-2404-44248D655C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sz="2200" noProof="0" dirty="0"/>
              <a:t>Expanding vocabulary</a:t>
            </a:r>
          </a:p>
          <a:p>
            <a:pPr lvl="1"/>
            <a:r>
              <a:rPr lang="en-CA" sz="1800" noProof="0" dirty="0"/>
              <a:t>Gather – meaning, translation, pronunciation</a:t>
            </a:r>
          </a:p>
          <a:p>
            <a:pPr lvl="1"/>
            <a:r>
              <a:rPr lang="en-CA" sz="1800" noProof="0" dirty="0"/>
              <a:t>Review – flashcards, spelling tests, dictation</a:t>
            </a:r>
          </a:p>
          <a:p>
            <a:pPr lvl="1"/>
            <a:r>
              <a:rPr lang="en-CA" sz="1800" noProof="0" dirty="0"/>
              <a:t>Own – write it, say it, use it</a:t>
            </a:r>
          </a:p>
          <a:p>
            <a:pPr lvl="1"/>
            <a:r>
              <a:rPr lang="en-CA" sz="1800" noProof="0" dirty="0"/>
              <a:t>Wander – explore, discover, repeat</a:t>
            </a:r>
          </a:p>
          <a:p>
            <a:r>
              <a:rPr lang="en-CA" sz="2200" noProof="0" dirty="0"/>
              <a:t>No repetitions – rephrase, synonyms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7F3E88-4957-C52E-5526-1C8F9A1964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2400" noProof="0" dirty="0"/>
              <a:t>Complex sentence types</a:t>
            </a:r>
          </a:p>
          <a:p>
            <a:pPr lvl="1"/>
            <a:r>
              <a:rPr lang="en-CA" sz="2000" noProof="0" dirty="0"/>
              <a:t>If start with year – comma after date</a:t>
            </a:r>
          </a:p>
          <a:p>
            <a:pPr lvl="2"/>
            <a:r>
              <a:rPr lang="en-CA" sz="1600" noProof="0" dirty="0"/>
              <a:t>In year 1998, customer churn was relatively stable</a:t>
            </a:r>
          </a:p>
          <a:p>
            <a:pPr lvl="1"/>
            <a:r>
              <a:rPr lang="en-CA" sz="2000" noProof="0" dirty="0"/>
              <a:t>Describe adjective and noun first</a:t>
            </a:r>
          </a:p>
          <a:p>
            <a:pPr lvl="2"/>
            <a:r>
              <a:rPr lang="en-CA" sz="1600" noProof="0" dirty="0"/>
              <a:t>There was relative stability in customer churn in the year 1998</a:t>
            </a:r>
          </a:p>
          <a:p>
            <a:pPr lvl="1"/>
            <a:r>
              <a:rPr lang="en-CA" sz="2000" noProof="0" dirty="0"/>
              <a:t>Normal structure</a:t>
            </a:r>
          </a:p>
          <a:p>
            <a:pPr lvl="2"/>
            <a:r>
              <a:rPr lang="en-CA" sz="1600" noProof="0" dirty="0"/>
              <a:t>The customer churn was relatively stable …</a:t>
            </a:r>
          </a:p>
          <a:p>
            <a:pPr lvl="1"/>
            <a:r>
              <a:rPr lang="en-CA" sz="2000" noProof="0" dirty="0"/>
              <a:t>Describe adverb converted to adjective</a:t>
            </a:r>
          </a:p>
          <a:p>
            <a:pPr lvl="2"/>
            <a:r>
              <a:rPr lang="en-CA" sz="1600" noProof="0" dirty="0"/>
              <a:t>The customer churn experienced a relative stability …</a:t>
            </a:r>
          </a:p>
          <a:p>
            <a:pPr marL="0" indent="0">
              <a:buNone/>
            </a:pPr>
            <a:endParaRPr lang="en-CA" sz="2400" noProof="0" dirty="0"/>
          </a:p>
        </p:txBody>
      </p:sp>
    </p:spTree>
    <p:extLst>
      <p:ext uri="{BB962C8B-B14F-4D97-AF65-F5344CB8AC3E}">
        <p14:creationId xmlns:p14="http://schemas.microsoft.com/office/powerpoint/2010/main" val="2444422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3E20B-8FE1-FB8B-178B-BCF3493D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40DEF-DF22-2F2F-19FB-08347D23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noProof="0" dirty="0"/>
              <a:t>📖 Grammar zone – Transitions/ Linkers / Adverbs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ECDCA-0ABE-A656-19C8-F20510E15B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numCol="2">
            <a:normAutofit/>
          </a:bodyPr>
          <a:lstStyle/>
          <a:p>
            <a:pPr lvl="1"/>
            <a:r>
              <a:rPr lang="en-CA" sz="1800" noProof="0" dirty="0"/>
              <a:t>Overall</a:t>
            </a:r>
          </a:p>
          <a:p>
            <a:pPr lvl="1"/>
            <a:r>
              <a:rPr lang="en-CA" sz="1800" noProof="0" dirty="0"/>
              <a:t>Regarding</a:t>
            </a:r>
          </a:p>
          <a:p>
            <a:pPr lvl="1"/>
            <a:r>
              <a:rPr lang="en-CA" sz="1800" dirty="0"/>
              <a:t>While</a:t>
            </a:r>
            <a:endParaRPr lang="en-CA" sz="1800" noProof="0" dirty="0"/>
          </a:p>
          <a:p>
            <a:pPr lvl="1"/>
            <a:r>
              <a:rPr lang="en-CA" sz="1800" noProof="0" dirty="0"/>
              <a:t>in terms of</a:t>
            </a:r>
          </a:p>
          <a:p>
            <a:pPr lvl="1"/>
            <a:r>
              <a:rPr lang="en-CA" sz="1800" dirty="0"/>
              <a:t>F</a:t>
            </a:r>
            <a:r>
              <a:rPr lang="en-CA" sz="1800" noProof="0" dirty="0"/>
              <a:t>or </a:t>
            </a:r>
            <a:r>
              <a:rPr lang="en-CA" sz="1800" dirty="0"/>
              <a:t>instance,</a:t>
            </a:r>
            <a:endParaRPr lang="en-CA" sz="1800" noProof="0" dirty="0"/>
          </a:p>
          <a:p>
            <a:pPr lvl="1"/>
            <a:r>
              <a:rPr lang="en-CA" sz="1800" noProof="0" dirty="0"/>
              <a:t>in addition to</a:t>
            </a:r>
          </a:p>
          <a:p>
            <a:pPr lvl="1"/>
            <a:r>
              <a:rPr lang="en-CA" sz="1800" noProof="0" dirty="0"/>
              <a:t>Also</a:t>
            </a:r>
          </a:p>
          <a:p>
            <a:pPr lvl="1"/>
            <a:r>
              <a:rPr lang="en-CA" sz="1800" dirty="0"/>
              <a:t>Given</a:t>
            </a:r>
            <a:endParaRPr lang="en-CA" sz="1800" noProof="0" dirty="0"/>
          </a:p>
          <a:p>
            <a:pPr lvl="1"/>
            <a:r>
              <a:rPr lang="en-CA" sz="1800" dirty="0"/>
              <a:t>A</a:t>
            </a:r>
            <a:r>
              <a:rPr lang="en-CA" sz="1800" noProof="0" dirty="0"/>
              <a:t>s a result,</a:t>
            </a:r>
          </a:p>
          <a:p>
            <a:pPr lvl="1"/>
            <a:r>
              <a:rPr lang="en-CA" sz="1800" noProof="0" dirty="0"/>
              <a:t>leading to</a:t>
            </a:r>
          </a:p>
          <a:p>
            <a:pPr lvl="1"/>
            <a:r>
              <a:rPr lang="en-CA" sz="1800" dirty="0"/>
              <a:t>compared to</a:t>
            </a:r>
            <a:endParaRPr lang="en-CA" sz="1800" noProof="0" dirty="0"/>
          </a:p>
          <a:p>
            <a:pPr lvl="1"/>
            <a:r>
              <a:rPr lang="en-CA" sz="1800" noProof="0" dirty="0"/>
              <a:t>meaning that</a:t>
            </a:r>
          </a:p>
          <a:p>
            <a:pPr lvl="1"/>
            <a:r>
              <a:rPr lang="en-CA" sz="1800" noProof="0" dirty="0"/>
              <a:t>Especially</a:t>
            </a:r>
          </a:p>
          <a:p>
            <a:pPr lvl="1"/>
            <a:r>
              <a:rPr lang="en-CA" sz="1800" noProof="0" dirty="0"/>
              <a:t>Conversely</a:t>
            </a:r>
          </a:p>
          <a:p>
            <a:pPr lvl="1"/>
            <a:r>
              <a:rPr lang="en-CA" sz="1800" dirty="0"/>
              <a:t>Contrary</a:t>
            </a:r>
            <a:endParaRPr lang="en-CA" sz="1800" noProof="0" dirty="0"/>
          </a:p>
          <a:p>
            <a:pPr lvl="1"/>
            <a:r>
              <a:rPr lang="en-CA" sz="1800" dirty="0"/>
              <a:t>As opposed to</a:t>
            </a:r>
            <a:endParaRPr lang="en-CA" sz="1800" noProof="0" dirty="0"/>
          </a:p>
          <a:p>
            <a:pPr lvl="1"/>
            <a:r>
              <a:rPr lang="en-CA" sz="1800" dirty="0"/>
              <a:t>Likewise</a:t>
            </a:r>
          </a:p>
          <a:p>
            <a:pPr lvl="1"/>
            <a:r>
              <a:rPr lang="en-CA" sz="1800" noProof="0" dirty="0"/>
              <a:t>On the other hand</a:t>
            </a:r>
          </a:p>
          <a:p>
            <a:pPr lvl="1"/>
            <a:r>
              <a:rPr lang="en-CA" sz="1800" dirty="0"/>
              <a:t>Initially</a:t>
            </a:r>
          </a:p>
          <a:p>
            <a:pPr lvl="1"/>
            <a:r>
              <a:rPr lang="en-CA" sz="1800" noProof="0" dirty="0"/>
              <a:t>First … seco</a:t>
            </a:r>
            <a:r>
              <a:rPr lang="en-CA" sz="1800" dirty="0" err="1"/>
              <a:t>nd</a:t>
            </a:r>
            <a:endParaRPr lang="en-CA" sz="1800" dirty="0"/>
          </a:p>
          <a:p>
            <a:pPr lvl="1"/>
            <a:r>
              <a:rPr lang="en-CA" sz="1800" noProof="0" dirty="0"/>
              <a:t>Furthermore</a:t>
            </a:r>
          </a:p>
          <a:p>
            <a:pPr lvl="1"/>
            <a:r>
              <a:rPr lang="en-CA" sz="1800" dirty="0"/>
              <a:t>Specifically</a:t>
            </a:r>
          </a:p>
          <a:p>
            <a:pPr lvl="1"/>
            <a:r>
              <a:rPr lang="en-CA" sz="1800" dirty="0"/>
              <a:t>Nevertheless</a:t>
            </a:r>
          </a:p>
          <a:p>
            <a:pPr lvl="1"/>
            <a:r>
              <a:rPr lang="en-CA" sz="1800" noProof="0" dirty="0"/>
              <a:t>Consequently</a:t>
            </a:r>
          </a:p>
          <a:p>
            <a:pPr lvl="1"/>
            <a:r>
              <a:rPr lang="en-CA" sz="1800" dirty="0"/>
              <a:t>Alternatively</a:t>
            </a:r>
            <a:endParaRPr lang="en-CA" sz="1800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DF2CEF-79DC-E19A-6D2A-5A6ACE23B9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n-CA" sz="2400" noProof="0" dirty="0"/>
              <a:t>🚫 Don’t overuse – 3 or 4 suffice / 24</a:t>
            </a:r>
          </a:p>
          <a:p>
            <a:pPr marL="0" indent="0">
              <a:buNone/>
            </a:pPr>
            <a:endParaRPr lang="en-CA" sz="2400" noProof="0" dirty="0"/>
          </a:p>
        </p:txBody>
      </p:sp>
    </p:spTree>
    <p:extLst>
      <p:ext uri="{BB962C8B-B14F-4D97-AF65-F5344CB8AC3E}">
        <p14:creationId xmlns:p14="http://schemas.microsoft.com/office/powerpoint/2010/main" val="2293989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87F79-C694-F4C2-BF48-C79DD010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1F563D-5A2F-EFEB-91B8-A3147A45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💡Tips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B91C2-5BA1-E5AD-350F-139A5E3BB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CA" sz="2200" noProof="0" dirty="0"/>
              <a:t>Advanced vocabulary</a:t>
            </a:r>
          </a:p>
          <a:p>
            <a:pPr lvl="1"/>
            <a:r>
              <a:rPr lang="en-CA" sz="1800" noProof="0" dirty="0"/>
              <a:t>Compound words :: All around the world =&gt; worldwide</a:t>
            </a:r>
          </a:p>
          <a:p>
            <a:pPr lvl="1"/>
            <a:r>
              <a:rPr lang="en-CA" sz="1800" noProof="0" dirty="0"/>
              <a:t>Not relevant =&gt; irrelevant</a:t>
            </a:r>
          </a:p>
          <a:p>
            <a:pPr lvl="1"/>
            <a:r>
              <a:rPr lang="en-CA" sz="1800" noProof="0" dirty="0"/>
              <a:t>Gain =&gt; accumulate</a:t>
            </a:r>
          </a:p>
          <a:p>
            <a:r>
              <a:rPr lang="en-CA" sz="2200" noProof="0" dirty="0"/>
              <a:t>Prefixes/suffixes</a:t>
            </a:r>
          </a:p>
          <a:p>
            <a:r>
              <a:rPr lang="en-CA" sz="2200" noProof="0" dirty="0"/>
              <a:t>Colocations – naturally go together</a:t>
            </a:r>
          </a:p>
          <a:p>
            <a:pPr lvl="1"/>
            <a:r>
              <a:rPr lang="en-CA" sz="1800" dirty="0"/>
              <a:t>Make a decision</a:t>
            </a:r>
          </a:p>
          <a:p>
            <a:pPr lvl="1"/>
            <a:r>
              <a:rPr lang="en-CA" sz="1800" noProof="0" dirty="0"/>
              <a:t>Strong coffee</a:t>
            </a:r>
          </a:p>
          <a:p>
            <a:pPr lvl="1"/>
            <a:r>
              <a:rPr lang="en-CA" sz="1800" noProof="0" dirty="0"/>
              <a:t>Take responsibility</a:t>
            </a:r>
          </a:p>
          <a:p>
            <a:pPr lvl="1"/>
            <a:r>
              <a:rPr lang="en-CA" sz="1800" dirty="0"/>
              <a:t>Address an issue</a:t>
            </a:r>
          </a:p>
          <a:p>
            <a:pPr lvl="1"/>
            <a:r>
              <a:rPr lang="en-CA" sz="1800" noProof="0" dirty="0"/>
              <a:t>Unacceptable delay</a:t>
            </a:r>
          </a:p>
          <a:p>
            <a:pPr lvl="1"/>
            <a:r>
              <a:rPr lang="en-CA" sz="1800" noProof="0" dirty="0"/>
              <a:t>Reasonable request</a:t>
            </a:r>
          </a:p>
          <a:p>
            <a:r>
              <a:rPr lang="en-CA" sz="2200" dirty="0"/>
              <a:t>Topical and precise</a:t>
            </a:r>
            <a:endParaRPr lang="en-CA" sz="2200" noProof="0" dirty="0"/>
          </a:p>
        </p:txBody>
      </p:sp>
    </p:spTree>
    <p:extLst>
      <p:ext uri="{BB962C8B-B14F-4D97-AF65-F5344CB8AC3E}">
        <p14:creationId xmlns:p14="http://schemas.microsoft.com/office/powerpoint/2010/main" val="2289565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8835-AD70-4B2A-48E4-5ECEBD5C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720822-5345-7206-744A-5BA9E5B1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Work and careers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C6B6D-E218-2385-B43A-9891EF54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CA" sz="2200" noProof="0" dirty="0"/>
              <a:t>Productivity</a:t>
            </a:r>
          </a:p>
          <a:p>
            <a:r>
              <a:rPr lang="en-CA" sz="2200" noProof="0" dirty="0"/>
              <a:t>Work/life balance</a:t>
            </a:r>
          </a:p>
          <a:p>
            <a:r>
              <a:rPr lang="en-CA" sz="2200" noProof="0" dirty="0"/>
              <a:t>Perks</a:t>
            </a:r>
          </a:p>
          <a:p>
            <a:r>
              <a:rPr lang="en-CA" sz="2200" noProof="0" dirty="0"/>
              <a:t>Incentives</a:t>
            </a:r>
          </a:p>
          <a:p>
            <a:r>
              <a:rPr lang="en-CA" sz="2200" noProof="0" dirty="0"/>
              <a:t>On the job training</a:t>
            </a:r>
          </a:p>
          <a:p>
            <a:r>
              <a:rPr lang="en-CA" sz="2200" noProof="0" dirty="0"/>
              <a:t>Career progression</a:t>
            </a:r>
          </a:p>
          <a:p>
            <a:r>
              <a:rPr lang="en-CA" sz="2200" noProof="0" dirty="0"/>
              <a:t>Appraisals</a:t>
            </a:r>
          </a:p>
          <a:p>
            <a:r>
              <a:rPr lang="en-CA" sz="2200" noProof="0" dirty="0"/>
              <a:t>Restructure</a:t>
            </a:r>
          </a:p>
          <a:p>
            <a:r>
              <a:rPr lang="en-CA" sz="2200" noProof="0" dirty="0"/>
              <a:t>Workforce</a:t>
            </a:r>
          </a:p>
          <a:p>
            <a:r>
              <a:rPr lang="en-CA" sz="2200" noProof="0" dirty="0"/>
              <a:t>Output</a:t>
            </a:r>
          </a:p>
          <a:p>
            <a:r>
              <a:rPr lang="en-CA" sz="2200" noProof="0" dirty="0"/>
              <a:t>Motivate</a:t>
            </a:r>
          </a:p>
          <a:p>
            <a:r>
              <a:rPr lang="en-CA" sz="2200" noProof="0" dirty="0"/>
              <a:t>Rewards</a:t>
            </a:r>
          </a:p>
          <a:p>
            <a:r>
              <a:rPr lang="en-CA" sz="2200" noProof="0" dirty="0"/>
              <a:t>Job satisfaction</a:t>
            </a:r>
          </a:p>
          <a:p>
            <a:r>
              <a:rPr lang="en-CA" sz="2200" noProof="0" dirty="0"/>
              <a:t>Ongoing training</a:t>
            </a:r>
          </a:p>
          <a:p>
            <a:r>
              <a:rPr lang="en-CA" sz="2200" noProof="0" dirty="0"/>
              <a:t>Job prospects</a:t>
            </a:r>
          </a:p>
          <a:p>
            <a:r>
              <a:rPr lang="en-CA" sz="2200" noProof="0" dirty="0"/>
              <a:t>Superficial</a:t>
            </a:r>
          </a:p>
          <a:p>
            <a:r>
              <a:rPr lang="en-CA" sz="2200" noProof="0" dirty="0"/>
              <a:t>Downsize</a:t>
            </a:r>
          </a:p>
          <a:p>
            <a:r>
              <a:rPr lang="en-CA" sz="2200" noProof="0" dirty="0"/>
              <a:t>Human resources</a:t>
            </a:r>
          </a:p>
          <a:p>
            <a:r>
              <a:rPr lang="en-CA" sz="2200" noProof="0" dirty="0"/>
              <a:t>Subsidise</a:t>
            </a:r>
          </a:p>
          <a:p>
            <a:r>
              <a:rPr lang="en-CA" sz="2200" noProof="0" dirty="0"/>
              <a:t>Increments</a:t>
            </a:r>
          </a:p>
          <a:p>
            <a:r>
              <a:rPr lang="en-CA" sz="2200" noProof="0" dirty="0"/>
              <a:t>Bonuses</a:t>
            </a:r>
          </a:p>
          <a:p>
            <a:r>
              <a:rPr lang="en-CA" sz="2200" noProof="0" dirty="0"/>
              <a:t>Delegate</a:t>
            </a:r>
          </a:p>
          <a:p>
            <a:r>
              <a:rPr lang="en-CA" sz="2200" noProof="0" dirty="0"/>
              <a:t>Day release programs</a:t>
            </a:r>
          </a:p>
          <a:p>
            <a:r>
              <a:rPr lang="en-CA" sz="2200" noProof="0" dirty="0"/>
              <a:t>Performance reviews</a:t>
            </a:r>
          </a:p>
          <a:p>
            <a:r>
              <a:rPr lang="en-CA" sz="2200" noProof="0" dirty="0"/>
              <a:t>Redundancy</a:t>
            </a:r>
          </a:p>
          <a:p>
            <a:r>
              <a:rPr lang="en-CA" sz="2200" noProof="0" dirty="0"/>
              <a:t>Outsource</a:t>
            </a:r>
          </a:p>
          <a:p>
            <a:r>
              <a:rPr lang="en-CA" sz="2200" noProof="0" dirty="0"/>
              <a:t>Reimburse</a:t>
            </a:r>
          </a:p>
          <a:p>
            <a:r>
              <a:rPr lang="en-CA" sz="2200" dirty="0"/>
              <a:t>New norm</a:t>
            </a:r>
          </a:p>
          <a:p>
            <a:r>
              <a:rPr lang="en-CA" sz="2200" noProof="0" dirty="0"/>
              <a:t>Reorganization</a:t>
            </a:r>
          </a:p>
          <a:p>
            <a:r>
              <a:rPr lang="en-CA" sz="2200" noProof="0" dirty="0"/>
              <a:t>Strategic foresight</a:t>
            </a:r>
          </a:p>
        </p:txBody>
      </p:sp>
    </p:spTree>
    <p:extLst>
      <p:ext uri="{BB962C8B-B14F-4D97-AF65-F5344CB8AC3E}">
        <p14:creationId xmlns:p14="http://schemas.microsoft.com/office/powerpoint/2010/main" val="4009474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D62D-C8E5-13AA-28F6-7153217D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5E1BE7-2902-CD9D-0DE4-A7EC9C1D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Education and Schooling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908FE-FAEA-57EB-CBE5-2B4EC0EF9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CA" sz="2200" noProof="0" dirty="0"/>
              <a:t>Curriculum</a:t>
            </a:r>
          </a:p>
          <a:p>
            <a:r>
              <a:rPr lang="en-CA" sz="2200" noProof="0" dirty="0"/>
              <a:t>Formal examinations</a:t>
            </a:r>
          </a:p>
          <a:p>
            <a:r>
              <a:rPr lang="en-CA" sz="2200" noProof="0" dirty="0"/>
              <a:t>Further/higher education</a:t>
            </a:r>
          </a:p>
          <a:p>
            <a:r>
              <a:rPr lang="en-CA" sz="2200" noProof="0" dirty="0"/>
              <a:t>Rote-learning</a:t>
            </a:r>
          </a:p>
          <a:p>
            <a:r>
              <a:rPr lang="en-CA" sz="2200" noProof="0" dirty="0"/>
              <a:t>Assimilate</a:t>
            </a:r>
          </a:p>
          <a:p>
            <a:r>
              <a:rPr lang="en-CA" sz="2200" noProof="0" dirty="0"/>
              <a:t>Data gathering</a:t>
            </a:r>
          </a:p>
          <a:p>
            <a:r>
              <a:rPr lang="en-CA" sz="2200" noProof="0" dirty="0"/>
              <a:t>Sift information</a:t>
            </a:r>
          </a:p>
          <a:p>
            <a:r>
              <a:rPr lang="en-CA" sz="2200" noProof="0" dirty="0"/>
              <a:t>Supervision</a:t>
            </a:r>
          </a:p>
          <a:p>
            <a:r>
              <a:rPr lang="en-CA" sz="2200" noProof="0" dirty="0"/>
              <a:t>Pedagogical</a:t>
            </a:r>
          </a:p>
          <a:p>
            <a:r>
              <a:rPr lang="en-CA" sz="2200" noProof="0" dirty="0"/>
              <a:t>Continuous assessment</a:t>
            </a:r>
          </a:p>
          <a:p>
            <a:r>
              <a:rPr lang="en-CA" sz="2200" noProof="0" dirty="0"/>
              <a:t>Group work</a:t>
            </a:r>
          </a:p>
          <a:p>
            <a:r>
              <a:rPr lang="en-CA" sz="2200" noProof="0" dirty="0"/>
              <a:t>Study skills</a:t>
            </a:r>
          </a:p>
          <a:p>
            <a:r>
              <a:rPr lang="en-CA" sz="2200" noProof="0" dirty="0"/>
              <a:t>Supplement</a:t>
            </a:r>
          </a:p>
          <a:p>
            <a:r>
              <a:rPr lang="en-CA" sz="2200" noProof="0" dirty="0"/>
              <a:t>School management</a:t>
            </a:r>
          </a:p>
          <a:p>
            <a:r>
              <a:rPr lang="en-CA" sz="2200" noProof="0" dirty="0"/>
              <a:t>Distance learning</a:t>
            </a:r>
          </a:p>
          <a:p>
            <a:r>
              <a:rPr lang="en-CA" sz="2200" noProof="0" dirty="0"/>
              <a:t>Pupils</a:t>
            </a:r>
          </a:p>
          <a:p>
            <a:r>
              <a:rPr lang="en-CA" sz="2200" noProof="0" dirty="0"/>
              <a:t>Syllabus</a:t>
            </a:r>
          </a:p>
          <a:p>
            <a:r>
              <a:rPr lang="en-CA" sz="2200" noProof="0" dirty="0"/>
              <a:t>Academic achievement</a:t>
            </a:r>
          </a:p>
          <a:p>
            <a:r>
              <a:rPr lang="en-CA" sz="2200" noProof="0" dirty="0"/>
              <a:t>Teacher-led</a:t>
            </a:r>
          </a:p>
          <a:p>
            <a:r>
              <a:rPr lang="en-CA" sz="2200" noProof="0" dirty="0"/>
              <a:t>Synthesize sources</a:t>
            </a:r>
          </a:p>
          <a:p>
            <a:r>
              <a:rPr lang="en-CA" sz="2200" noProof="0" dirty="0"/>
              <a:t>Knowledge</a:t>
            </a:r>
          </a:p>
          <a:p>
            <a:r>
              <a:rPr lang="en-CA" sz="2200" noProof="0" dirty="0"/>
              <a:t>Guided learning</a:t>
            </a:r>
          </a:p>
          <a:p>
            <a:r>
              <a:rPr lang="en-CA" sz="2200" noProof="0" dirty="0"/>
              <a:t>Self-study</a:t>
            </a:r>
          </a:p>
          <a:p>
            <a:r>
              <a:rPr lang="en-CA" sz="2200" noProof="0" dirty="0"/>
              <a:t>Depth of material</a:t>
            </a:r>
          </a:p>
          <a:p>
            <a:r>
              <a:rPr lang="en-CA" sz="2200" noProof="0" dirty="0"/>
              <a:t>Storytelling</a:t>
            </a:r>
          </a:p>
          <a:p>
            <a:r>
              <a:rPr lang="en-CA" sz="2200" dirty="0"/>
              <a:t>Enthusiasm</a:t>
            </a:r>
          </a:p>
          <a:p>
            <a:r>
              <a:rPr lang="en-CA" sz="2200" noProof="0" dirty="0"/>
              <a:t>Language arts</a:t>
            </a:r>
          </a:p>
          <a:p>
            <a:r>
              <a:rPr lang="en-CA" sz="2200" dirty="0"/>
              <a:t>Elementary</a:t>
            </a:r>
            <a:endParaRPr lang="en-CA" sz="2200" noProof="0" dirty="0"/>
          </a:p>
        </p:txBody>
      </p:sp>
    </p:spTree>
    <p:extLst>
      <p:ext uri="{BB962C8B-B14F-4D97-AF65-F5344CB8AC3E}">
        <p14:creationId xmlns:p14="http://schemas.microsoft.com/office/powerpoint/2010/main" val="253977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F543-D8FB-C244-4F21-D5803408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BF6EDD-5603-725A-824A-3C659489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Children and families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49F99-0F3D-9EFD-45F7-C88D6C0BB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2">
            <a:normAutofit/>
          </a:bodyPr>
          <a:lstStyle/>
          <a:p>
            <a:r>
              <a:rPr lang="en-CA" sz="2200" noProof="0" dirty="0"/>
              <a:t>Foster parents</a:t>
            </a:r>
          </a:p>
          <a:p>
            <a:r>
              <a:rPr lang="en-CA" sz="2200" noProof="0" dirty="0"/>
              <a:t>Ground rules</a:t>
            </a:r>
          </a:p>
          <a:p>
            <a:r>
              <a:rPr lang="en-CA" sz="2200" noProof="0" dirty="0"/>
              <a:t>Bullying</a:t>
            </a:r>
          </a:p>
          <a:p>
            <a:r>
              <a:rPr lang="en-CA" sz="2200" noProof="0" dirty="0"/>
              <a:t>Abduction</a:t>
            </a:r>
          </a:p>
          <a:p>
            <a:r>
              <a:rPr lang="en-CA" sz="2200" noProof="0" dirty="0"/>
              <a:t>Breadwinner</a:t>
            </a:r>
          </a:p>
          <a:p>
            <a:r>
              <a:rPr lang="en-CA" sz="2200" noProof="0" dirty="0"/>
              <a:t>Peers</a:t>
            </a:r>
          </a:p>
          <a:p>
            <a:r>
              <a:rPr lang="en-CA" sz="2200" noProof="0" dirty="0"/>
              <a:t>Well brought-up</a:t>
            </a:r>
          </a:p>
          <a:p>
            <a:r>
              <a:rPr lang="en-CA" sz="2200" noProof="0" dirty="0"/>
              <a:t>Guardians</a:t>
            </a:r>
          </a:p>
          <a:p>
            <a:r>
              <a:rPr lang="en-CA" sz="2200" noProof="0" dirty="0"/>
              <a:t>Absorb conventions</a:t>
            </a:r>
          </a:p>
          <a:p>
            <a:r>
              <a:rPr lang="en-CA" sz="2200" noProof="0" dirty="0"/>
              <a:t>Truancy</a:t>
            </a:r>
          </a:p>
          <a:p>
            <a:r>
              <a:rPr lang="en-CA" sz="2200" noProof="0" dirty="0"/>
              <a:t>Peer pressure</a:t>
            </a:r>
          </a:p>
          <a:p>
            <a:r>
              <a:rPr lang="en-CA" sz="2200" noProof="0" dirty="0"/>
              <a:t>Child-minding</a:t>
            </a:r>
          </a:p>
          <a:p>
            <a:r>
              <a:rPr lang="en-CA" sz="2200" noProof="0" dirty="0"/>
              <a:t>Bonding</a:t>
            </a:r>
          </a:p>
          <a:p>
            <a:r>
              <a:rPr lang="en-CA" sz="2200" noProof="0" dirty="0"/>
              <a:t>Role models</a:t>
            </a:r>
          </a:p>
          <a:p>
            <a:r>
              <a:rPr lang="en-CA" sz="2200" noProof="0" dirty="0"/>
              <a:t>Codes of conduct</a:t>
            </a:r>
          </a:p>
          <a:p>
            <a:r>
              <a:rPr lang="en-CA" sz="2200" noProof="0" dirty="0"/>
              <a:t>Delinquency</a:t>
            </a:r>
          </a:p>
          <a:p>
            <a:r>
              <a:rPr lang="en-CA" sz="2200" noProof="0" dirty="0"/>
              <a:t>Dual-income</a:t>
            </a:r>
          </a:p>
          <a:p>
            <a:r>
              <a:rPr lang="en-CA" sz="2200" noProof="0" dirty="0"/>
              <a:t>Child care</a:t>
            </a:r>
          </a:p>
          <a:p>
            <a:r>
              <a:rPr lang="en-CA" sz="2200" noProof="0" dirty="0"/>
              <a:t>Behaviour patterns</a:t>
            </a:r>
          </a:p>
        </p:txBody>
      </p:sp>
    </p:spTree>
    <p:extLst>
      <p:ext uri="{BB962C8B-B14F-4D97-AF65-F5344CB8AC3E}">
        <p14:creationId xmlns:p14="http://schemas.microsoft.com/office/powerpoint/2010/main" val="1453088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58BAB-6C06-56A9-2940-72926364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07116-0DEF-2BD9-F18E-CE0FFF15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Nature, Environment, Energy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61031-5311-DA99-CAD4-388CE437F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CA" sz="2200" noProof="0" dirty="0"/>
              <a:t>Contamination</a:t>
            </a:r>
          </a:p>
          <a:p>
            <a:r>
              <a:rPr lang="en-CA" sz="2200" dirty="0"/>
              <a:t>Pollutants</a:t>
            </a:r>
          </a:p>
          <a:p>
            <a:r>
              <a:rPr lang="en-CA" sz="2200" noProof="0" dirty="0"/>
              <a:t>Water cycle</a:t>
            </a:r>
          </a:p>
          <a:p>
            <a:r>
              <a:rPr lang="en-CA" sz="2200" dirty="0"/>
              <a:t>Water table</a:t>
            </a:r>
            <a:endParaRPr lang="en-CA" sz="2200" noProof="0" dirty="0"/>
          </a:p>
          <a:p>
            <a:r>
              <a:rPr lang="en-CA" sz="2200" dirty="0"/>
              <a:t>Logging</a:t>
            </a:r>
          </a:p>
          <a:p>
            <a:r>
              <a:rPr lang="en-CA" sz="2200" noProof="0" dirty="0"/>
              <a:t>Waste processing</a:t>
            </a:r>
          </a:p>
          <a:p>
            <a:r>
              <a:rPr lang="en-CA" sz="2200" dirty="0"/>
              <a:t>Food chain</a:t>
            </a:r>
          </a:p>
          <a:p>
            <a:r>
              <a:rPr lang="en-CA" sz="2200" noProof="0" dirty="0"/>
              <a:t>Extinction</a:t>
            </a:r>
          </a:p>
          <a:p>
            <a:r>
              <a:rPr lang="en-CA" sz="2200" dirty="0"/>
              <a:t>Irrigation</a:t>
            </a:r>
          </a:p>
          <a:p>
            <a:r>
              <a:rPr lang="en-CA" sz="2200" noProof="0" dirty="0"/>
              <a:t>Sewage pollution</a:t>
            </a:r>
          </a:p>
          <a:p>
            <a:r>
              <a:rPr lang="en-CA" sz="2200" dirty="0"/>
              <a:t>Biosphere</a:t>
            </a:r>
          </a:p>
          <a:p>
            <a:r>
              <a:rPr lang="en-CA" sz="2200" noProof="0" dirty="0"/>
              <a:t>Particles</a:t>
            </a:r>
          </a:p>
          <a:p>
            <a:r>
              <a:rPr lang="en-CA" sz="2200" dirty="0"/>
              <a:t>Tainted</a:t>
            </a:r>
          </a:p>
          <a:p>
            <a:r>
              <a:rPr lang="en-CA" sz="2200" noProof="0" dirty="0"/>
              <a:t>Waste </a:t>
            </a:r>
            <a:r>
              <a:rPr lang="en-CA" sz="2200" dirty="0"/>
              <a:t>dumps</a:t>
            </a:r>
          </a:p>
          <a:p>
            <a:r>
              <a:rPr lang="en-CA" sz="2200" noProof="0" dirty="0"/>
              <a:t>Poaching</a:t>
            </a:r>
          </a:p>
          <a:p>
            <a:r>
              <a:rPr lang="en-CA" sz="2200" dirty="0"/>
              <a:t>Dwindling numbers</a:t>
            </a:r>
          </a:p>
          <a:p>
            <a:r>
              <a:rPr lang="en-CA" sz="2200" noProof="0" dirty="0"/>
              <a:t>Famine</a:t>
            </a:r>
          </a:p>
          <a:p>
            <a:r>
              <a:rPr lang="en-CA" sz="2200" dirty="0"/>
              <a:t>Catastrophe</a:t>
            </a:r>
          </a:p>
          <a:p>
            <a:r>
              <a:rPr lang="en-CA" sz="2200" noProof="0" dirty="0"/>
              <a:t>E</a:t>
            </a:r>
            <a:r>
              <a:rPr lang="en-CA" sz="2200" dirty="0"/>
              <a:t>missions</a:t>
            </a:r>
          </a:p>
          <a:p>
            <a:r>
              <a:rPr lang="en-CA" sz="2200" noProof="0" dirty="0"/>
              <a:t>Rainwater</a:t>
            </a:r>
          </a:p>
          <a:p>
            <a:r>
              <a:rPr lang="en-CA" sz="2200" dirty="0"/>
              <a:t>Filtration</a:t>
            </a:r>
          </a:p>
          <a:p>
            <a:r>
              <a:rPr lang="en-CA" sz="2200" noProof="0" dirty="0"/>
              <a:t>Soil erosion</a:t>
            </a:r>
          </a:p>
          <a:p>
            <a:r>
              <a:rPr lang="en-CA" sz="2200" noProof="0" dirty="0"/>
              <a:t>Landfills</a:t>
            </a:r>
          </a:p>
          <a:p>
            <a:r>
              <a:rPr lang="en-CA" sz="2200" dirty="0"/>
              <a:t>Habitat loss</a:t>
            </a:r>
          </a:p>
          <a:p>
            <a:r>
              <a:rPr lang="en-CA" sz="2200" noProof="0" dirty="0"/>
              <a:t>Endangered</a:t>
            </a:r>
          </a:p>
          <a:p>
            <a:r>
              <a:rPr lang="en-CA" sz="2200" dirty="0"/>
              <a:t>Drought</a:t>
            </a:r>
          </a:p>
          <a:p>
            <a:r>
              <a:rPr lang="en-CA" sz="2200" noProof="0" dirty="0"/>
              <a:t>Exacerbated</a:t>
            </a:r>
          </a:p>
        </p:txBody>
      </p:sp>
    </p:spTree>
    <p:extLst>
      <p:ext uri="{BB962C8B-B14F-4D97-AF65-F5344CB8AC3E}">
        <p14:creationId xmlns:p14="http://schemas.microsoft.com/office/powerpoint/2010/main" val="163861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9906-8D6B-8A94-C0C9-66B37983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8E0552-6EB8-5819-32C1-0EF60914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Culture, Art, Tradition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6A3CB-0420-003F-C57B-F2DF0889F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noProof="0" dirty="0"/>
              <a:t>Preserve</a:t>
            </a:r>
          </a:p>
          <a:p>
            <a:r>
              <a:rPr lang="en-US" sz="2200" dirty="0"/>
              <a:t>Social memes</a:t>
            </a:r>
          </a:p>
          <a:p>
            <a:r>
              <a:rPr lang="en-US" sz="2200" noProof="0" dirty="0"/>
              <a:t>Traditions</a:t>
            </a:r>
          </a:p>
          <a:p>
            <a:r>
              <a:rPr lang="en-US" sz="2200" dirty="0"/>
              <a:t>Medieval</a:t>
            </a:r>
          </a:p>
          <a:p>
            <a:r>
              <a:rPr lang="en-US" sz="2200" noProof="0" dirty="0"/>
              <a:t>Cultural norms</a:t>
            </a:r>
          </a:p>
          <a:p>
            <a:r>
              <a:rPr lang="en-US" sz="2200" dirty="0"/>
              <a:t>Handed down</a:t>
            </a:r>
          </a:p>
          <a:p>
            <a:r>
              <a:rPr lang="en-US" sz="2200" noProof="0" dirty="0"/>
              <a:t>Folklore</a:t>
            </a:r>
          </a:p>
          <a:p>
            <a:r>
              <a:rPr lang="en-US" sz="2200" dirty="0"/>
              <a:t>Handicrafts</a:t>
            </a:r>
          </a:p>
          <a:p>
            <a:r>
              <a:rPr lang="en-US" sz="2200" noProof="0" dirty="0"/>
              <a:t>Commemorate</a:t>
            </a:r>
          </a:p>
          <a:p>
            <a:r>
              <a:rPr lang="en-US" sz="2200" dirty="0"/>
              <a:t>Rituals</a:t>
            </a:r>
          </a:p>
          <a:p>
            <a:r>
              <a:rPr lang="en-US" sz="2200" dirty="0"/>
              <a:t>Public duty</a:t>
            </a:r>
          </a:p>
          <a:p>
            <a:r>
              <a:rPr lang="en-US" sz="2200" noProof="0" dirty="0"/>
              <a:t>Mythologies</a:t>
            </a:r>
          </a:p>
          <a:p>
            <a:r>
              <a:rPr lang="en-US" sz="2200" dirty="0"/>
              <a:t>Independence</a:t>
            </a:r>
          </a:p>
          <a:p>
            <a:r>
              <a:rPr lang="en-US" sz="2200" noProof="0" dirty="0"/>
              <a:t>Fabric of society</a:t>
            </a:r>
            <a:endParaRPr lang="en-US" sz="2200" dirty="0"/>
          </a:p>
          <a:p>
            <a:r>
              <a:rPr lang="en-US" sz="2200" noProof="0" dirty="0"/>
              <a:t>Heritage</a:t>
            </a:r>
          </a:p>
          <a:p>
            <a:r>
              <a:rPr lang="en-US" sz="2200" dirty="0"/>
              <a:t>Inheritance</a:t>
            </a:r>
          </a:p>
          <a:p>
            <a:r>
              <a:rPr lang="en-US" sz="2200" noProof="0" dirty="0"/>
              <a:t>Linguist</a:t>
            </a:r>
          </a:p>
          <a:p>
            <a:r>
              <a:rPr lang="en-US" sz="2200" noProof="0" dirty="0"/>
              <a:t>Parades</a:t>
            </a:r>
          </a:p>
          <a:p>
            <a:r>
              <a:rPr lang="en-US" sz="2200" noProof="0" dirty="0"/>
              <a:t>Self</a:t>
            </a:r>
            <a:r>
              <a:rPr lang="en-US" sz="2200" dirty="0"/>
              <a:t>-sacrifice</a:t>
            </a:r>
          </a:p>
          <a:p>
            <a:r>
              <a:rPr lang="en-US" sz="2200" noProof="0" dirty="0"/>
              <a:t>E</a:t>
            </a:r>
            <a:r>
              <a:rPr lang="en-US" sz="2200" dirty="0" err="1"/>
              <a:t>voke</a:t>
            </a:r>
            <a:endParaRPr lang="en-US" sz="2200" dirty="0"/>
          </a:p>
          <a:p>
            <a:r>
              <a:rPr lang="en-US" sz="2200" noProof="0" dirty="0"/>
              <a:t>Ceremony</a:t>
            </a:r>
          </a:p>
          <a:p>
            <a:r>
              <a:rPr lang="en-US" sz="2200" dirty="0"/>
              <a:t>Conserved</a:t>
            </a:r>
          </a:p>
          <a:p>
            <a:r>
              <a:rPr lang="en-US" sz="2200" noProof="0" dirty="0"/>
              <a:t>Legends</a:t>
            </a:r>
          </a:p>
          <a:p>
            <a:r>
              <a:rPr lang="en-US" sz="2200" dirty="0"/>
              <a:t>Fine art</a:t>
            </a:r>
          </a:p>
          <a:p>
            <a:r>
              <a:rPr lang="en-US" sz="2200" noProof="0" dirty="0"/>
              <a:t>Media</a:t>
            </a:r>
          </a:p>
          <a:p>
            <a:r>
              <a:rPr lang="en-US" sz="2200" dirty="0"/>
              <a:t>Glimpse</a:t>
            </a:r>
            <a:endParaRPr lang="en-CA" sz="2200" noProof="0" dirty="0"/>
          </a:p>
        </p:txBody>
      </p:sp>
    </p:spTree>
    <p:extLst>
      <p:ext uri="{BB962C8B-B14F-4D97-AF65-F5344CB8AC3E}">
        <p14:creationId xmlns:p14="http://schemas.microsoft.com/office/powerpoint/2010/main" val="2376344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262C-AB90-AD9B-4707-13BB4AD8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3597C3-2B29-977C-CB07-F70B14BE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Health and sport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92DE1-4C9F-9427-16BE-7D6AA6D9B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noProof="0" dirty="0"/>
              <a:t>Remedies</a:t>
            </a:r>
          </a:p>
          <a:p>
            <a:r>
              <a:rPr lang="en-US" sz="2200" dirty="0"/>
              <a:t>Sedentary</a:t>
            </a:r>
          </a:p>
          <a:p>
            <a:r>
              <a:rPr lang="en-US" sz="2200" noProof="0" dirty="0"/>
              <a:t>Inadequate development</a:t>
            </a:r>
          </a:p>
          <a:p>
            <a:r>
              <a:rPr lang="en-US" sz="2200" dirty="0"/>
              <a:t>Impairment</a:t>
            </a:r>
          </a:p>
          <a:p>
            <a:r>
              <a:rPr lang="en-US" sz="2200" noProof="0" dirty="0"/>
              <a:t>Socialize</a:t>
            </a:r>
          </a:p>
          <a:p>
            <a:r>
              <a:rPr lang="en-US" sz="2200" dirty="0"/>
              <a:t>Active lifestyle</a:t>
            </a:r>
          </a:p>
          <a:p>
            <a:r>
              <a:rPr lang="en-US" sz="2200" noProof="0" dirty="0"/>
              <a:t>Ameliorate</a:t>
            </a:r>
          </a:p>
          <a:p>
            <a:r>
              <a:rPr lang="en-US" sz="2200" dirty="0"/>
              <a:t>Health warnings</a:t>
            </a:r>
          </a:p>
          <a:p>
            <a:r>
              <a:rPr lang="en-US" sz="2200" noProof="0" dirty="0"/>
              <a:t>Dependency</a:t>
            </a:r>
          </a:p>
          <a:p>
            <a:r>
              <a:rPr lang="en-US" sz="2200" dirty="0"/>
              <a:t>Disability</a:t>
            </a:r>
          </a:p>
          <a:p>
            <a:r>
              <a:rPr lang="en-US" sz="2200" noProof="0" dirty="0"/>
              <a:t>Lifestyle</a:t>
            </a:r>
          </a:p>
          <a:p>
            <a:r>
              <a:rPr lang="en-US" sz="2200" dirty="0"/>
              <a:t>Strain</a:t>
            </a:r>
          </a:p>
          <a:p>
            <a:r>
              <a:rPr lang="en-US" sz="2200" noProof="0" dirty="0"/>
              <a:t>Convenience food</a:t>
            </a:r>
          </a:p>
          <a:p>
            <a:r>
              <a:rPr lang="en-US" sz="2200" dirty="0"/>
              <a:t>Interpersonal</a:t>
            </a:r>
          </a:p>
          <a:p>
            <a:r>
              <a:rPr lang="en-US" sz="2200" noProof="0" dirty="0"/>
              <a:t>Exercise regime</a:t>
            </a:r>
          </a:p>
          <a:p>
            <a:r>
              <a:rPr lang="en-US" sz="2200" dirty="0"/>
              <a:t>Sponsorship</a:t>
            </a:r>
          </a:p>
          <a:p>
            <a:r>
              <a:rPr lang="en-US" sz="2200" dirty="0"/>
              <a:t>Initiative</a:t>
            </a:r>
          </a:p>
          <a:p>
            <a:r>
              <a:rPr lang="en-US" sz="2200" dirty="0"/>
              <a:t>Champion</a:t>
            </a:r>
          </a:p>
          <a:p>
            <a:r>
              <a:rPr lang="en-US" sz="2200" dirty="0"/>
              <a:t>Stem from</a:t>
            </a:r>
          </a:p>
          <a:p>
            <a:r>
              <a:rPr lang="en-US" sz="2200" dirty="0"/>
              <a:t>Diet</a:t>
            </a:r>
          </a:p>
          <a:p>
            <a:r>
              <a:rPr lang="en-US" sz="2200" dirty="0"/>
              <a:t>Nutrition</a:t>
            </a:r>
          </a:p>
          <a:p>
            <a:r>
              <a:rPr lang="en-US" sz="2200" dirty="0"/>
              <a:t>Obesity</a:t>
            </a:r>
          </a:p>
          <a:p>
            <a:r>
              <a:rPr lang="en-US" sz="2200" dirty="0"/>
              <a:t>Symptoms</a:t>
            </a:r>
          </a:p>
          <a:p>
            <a:r>
              <a:rPr lang="en-US" sz="2200" dirty="0"/>
              <a:t>Addiction</a:t>
            </a:r>
          </a:p>
          <a:p>
            <a:r>
              <a:rPr lang="en-US" sz="2200" dirty="0"/>
              <a:t>Underperform</a:t>
            </a:r>
          </a:p>
          <a:p>
            <a:r>
              <a:rPr lang="en-US" sz="2200" dirty="0"/>
              <a:t>Sport programs</a:t>
            </a:r>
          </a:p>
          <a:p>
            <a:r>
              <a:rPr lang="en-US" sz="2200" dirty="0"/>
              <a:t>Competitive participation</a:t>
            </a:r>
          </a:p>
          <a:p>
            <a:r>
              <a:rPr lang="en-US" sz="2200" dirty="0"/>
              <a:t>Raise awareness</a:t>
            </a:r>
          </a:p>
          <a:p>
            <a:r>
              <a:rPr lang="en-US" sz="2200" dirty="0"/>
              <a:t>Figureheads</a:t>
            </a:r>
          </a:p>
          <a:p>
            <a:r>
              <a:rPr lang="en-US" sz="2200" dirty="0"/>
              <a:t>Rigorous</a:t>
            </a:r>
          </a:p>
        </p:txBody>
      </p:sp>
    </p:spTree>
    <p:extLst>
      <p:ext uri="{BB962C8B-B14F-4D97-AF65-F5344CB8AC3E}">
        <p14:creationId xmlns:p14="http://schemas.microsoft.com/office/powerpoint/2010/main" val="1241707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3428-1BB6-ED8E-8F78-D41598C8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BCBC3A-E13B-2AED-A656-51060B9B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Global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61F07-3834-0779-167F-E63B2610B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noProof="0" dirty="0"/>
              <a:t>Economic instability</a:t>
            </a:r>
          </a:p>
          <a:p>
            <a:r>
              <a:rPr lang="en-US" sz="2200" dirty="0"/>
              <a:t>Joblessness</a:t>
            </a:r>
          </a:p>
          <a:p>
            <a:r>
              <a:rPr lang="en-US" sz="2200" dirty="0"/>
              <a:t>Social mobility</a:t>
            </a:r>
          </a:p>
          <a:p>
            <a:r>
              <a:rPr lang="en-US" sz="2200" dirty="0"/>
              <a:t>Longevity</a:t>
            </a:r>
          </a:p>
          <a:p>
            <a:r>
              <a:rPr lang="en-US" sz="2200" dirty="0"/>
              <a:t>Existential threats</a:t>
            </a:r>
          </a:p>
          <a:p>
            <a:r>
              <a:rPr lang="en-US" sz="2200" dirty="0"/>
              <a:t>Outbreaks</a:t>
            </a:r>
          </a:p>
          <a:p>
            <a:r>
              <a:rPr lang="en-US" sz="2200" dirty="0"/>
              <a:t>Corruption</a:t>
            </a:r>
          </a:p>
          <a:p>
            <a:r>
              <a:rPr lang="en-US" sz="2200" dirty="0"/>
              <a:t>Illiteracy</a:t>
            </a:r>
          </a:p>
          <a:p>
            <a:r>
              <a:rPr lang="en-US" sz="2200" dirty="0"/>
              <a:t>Social unrest</a:t>
            </a:r>
          </a:p>
          <a:p>
            <a:r>
              <a:rPr lang="en-US" sz="2200" dirty="0"/>
              <a:t>Unemployment</a:t>
            </a:r>
          </a:p>
          <a:p>
            <a:r>
              <a:rPr lang="en-US" sz="2200" dirty="0"/>
              <a:t>Private sector</a:t>
            </a:r>
          </a:p>
          <a:p>
            <a:r>
              <a:rPr lang="en-US" sz="2200" dirty="0"/>
              <a:t>Migrate</a:t>
            </a:r>
          </a:p>
          <a:p>
            <a:r>
              <a:rPr lang="en-US" sz="2200" dirty="0"/>
              <a:t>Civil war</a:t>
            </a:r>
          </a:p>
          <a:p>
            <a:r>
              <a:rPr lang="en-US" sz="2200" dirty="0"/>
              <a:t>Livelihood</a:t>
            </a:r>
          </a:p>
          <a:p>
            <a:r>
              <a:rPr lang="en-US" sz="2200" dirty="0"/>
              <a:t>Pressing matters</a:t>
            </a:r>
          </a:p>
          <a:p>
            <a:r>
              <a:rPr lang="en-US" sz="2200" dirty="0"/>
              <a:t>Economic prospects</a:t>
            </a:r>
          </a:p>
          <a:p>
            <a:r>
              <a:rPr lang="en-US" sz="2200" dirty="0"/>
              <a:t>Demographics</a:t>
            </a:r>
          </a:p>
          <a:p>
            <a:r>
              <a:rPr lang="en-US" sz="2200" dirty="0"/>
              <a:t>Brain drain</a:t>
            </a:r>
          </a:p>
          <a:p>
            <a:r>
              <a:rPr lang="en-US" sz="2200" dirty="0"/>
              <a:t>Drought</a:t>
            </a:r>
          </a:p>
          <a:p>
            <a:r>
              <a:rPr lang="en-US" sz="2200" dirty="0"/>
              <a:t>Political instability</a:t>
            </a:r>
          </a:p>
          <a:p>
            <a:r>
              <a:rPr lang="en-US" sz="2200" dirty="0"/>
              <a:t>Developed countries</a:t>
            </a:r>
          </a:p>
        </p:txBody>
      </p:sp>
    </p:spTree>
    <p:extLst>
      <p:ext uri="{BB962C8B-B14F-4D97-AF65-F5344CB8AC3E}">
        <p14:creationId xmlns:p14="http://schemas.microsoft.com/office/powerpoint/2010/main" val="1218133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66167-6891-0312-3E82-F650F49D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AE50CF-336D-2DFC-6A9D-3D4588B5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Cities and Infrastructure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F85B5-4988-5A76-5493-79BF4AF5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noProof="0" dirty="0"/>
              <a:t>Urban</a:t>
            </a:r>
          </a:p>
          <a:p>
            <a:r>
              <a:rPr lang="en-US" sz="2200" dirty="0"/>
              <a:t>Infrastructure</a:t>
            </a:r>
          </a:p>
          <a:p>
            <a:r>
              <a:rPr lang="en-US" sz="2200" dirty="0"/>
              <a:t>Congestion</a:t>
            </a:r>
          </a:p>
          <a:p>
            <a:r>
              <a:rPr lang="en-US" sz="2200" dirty="0"/>
              <a:t>Facilities</a:t>
            </a:r>
          </a:p>
          <a:p>
            <a:r>
              <a:rPr lang="en-US" sz="2200" dirty="0"/>
              <a:t>Overcrowding</a:t>
            </a:r>
          </a:p>
          <a:p>
            <a:r>
              <a:rPr lang="en-US" sz="2200" dirty="0"/>
              <a:t>Amenities</a:t>
            </a:r>
          </a:p>
          <a:p>
            <a:r>
              <a:rPr lang="en-US" sz="2200" dirty="0"/>
              <a:t>Civic pride</a:t>
            </a:r>
          </a:p>
          <a:p>
            <a:r>
              <a:rPr lang="en-US" sz="2200" dirty="0"/>
              <a:t>Commute</a:t>
            </a:r>
          </a:p>
          <a:p>
            <a:r>
              <a:rPr lang="en-US" sz="2200" dirty="0"/>
              <a:t>Communal</a:t>
            </a:r>
          </a:p>
          <a:p>
            <a:r>
              <a:rPr lang="en-US" sz="2200" dirty="0"/>
              <a:t>Innovations</a:t>
            </a:r>
          </a:p>
          <a:p>
            <a:r>
              <a:rPr lang="en-US" sz="2200" dirty="0"/>
              <a:t>Investment</a:t>
            </a:r>
          </a:p>
          <a:p>
            <a:r>
              <a:rPr lang="en-US" sz="2200" dirty="0"/>
              <a:t>High-capacity</a:t>
            </a:r>
          </a:p>
          <a:p>
            <a:r>
              <a:rPr lang="en-US" sz="2200" dirty="0"/>
              <a:t>Conurbations</a:t>
            </a:r>
          </a:p>
          <a:p>
            <a:r>
              <a:rPr lang="en-US" sz="2200" dirty="0"/>
              <a:t>Privatization</a:t>
            </a:r>
          </a:p>
          <a:p>
            <a:r>
              <a:rPr lang="en-US" sz="2200" dirty="0"/>
              <a:t>Hinterland</a:t>
            </a:r>
          </a:p>
          <a:p>
            <a:r>
              <a:rPr lang="en-US" sz="2200" dirty="0"/>
              <a:t>Urban sprawl</a:t>
            </a:r>
          </a:p>
          <a:p>
            <a:r>
              <a:rPr lang="en-US" sz="2200" dirty="0"/>
              <a:t>Tax incentives</a:t>
            </a:r>
          </a:p>
          <a:p>
            <a:r>
              <a:rPr lang="en-US" sz="2200" dirty="0"/>
              <a:t>Suburbs</a:t>
            </a:r>
          </a:p>
          <a:p>
            <a:r>
              <a:rPr lang="en-US" sz="2200" dirty="0"/>
              <a:t>Burden</a:t>
            </a:r>
          </a:p>
          <a:p>
            <a:r>
              <a:rPr lang="en-US" sz="2200" dirty="0"/>
              <a:t>Funding</a:t>
            </a:r>
          </a:p>
          <a:p>
            <a:r>
              <a:rPr lang="en-US" sz="2200" dirty="0"/>
              <a:t>Public transport</a:t>
            </a:r>
          </a:p>
          <a:p>
            <a:r>
              <a:rPr lang="en-US" sz="2200" dirty="0"/>
              <a:t>Car-pooling</a:t>
            </a:r>
          </a:p>
          <a:p>
            <a:r>
              <a:rPr lang="en-US" sz="2200" dirty="0"/>
              <a:t>Transport hubs</a:t>
            </a:r>
          </a:p>
          <a:p>
            <a:r>
              <a:rPr lang="en-US" sz="2200" dirty="0"/>
              <a:t>Settle</a:t>
            </a:r>
          </a:p>
          <a:p>
            <a:r>
              <a:rPr lang="en-US" sz="2200" dirty="0"/>
              <a:t>Public-private partnership</a:t>
            </a:r>
          </a:p>
          <a:p>
            <a:r>
              <a:rPr lang="en-US" sz="2200" dirty="0"/>
              <a:t>Home working</a:t>
            </a:r>
          </a:p>
          <a:p>
            <a:r>
              <a:rPr lang="en-US" sz="2200" dirty="0"/>
              <a:t>Inner city</a:t>
            </a:r>
          </a:p>
          <a:p>
            <a:r>
              <a:rPr lang="en-US" sz="2200" dirty="0"/>
              <a:t>Outdated</a:t>
            </a:r>
          </a:p>
          <a:p>
            <a:r>
              <a:rPr lang="en-US" sz="2200" dirty="0"/>
              <a:t>Demolition</a:t>
            </a:r>
          </a:p>
        </p:txBody>
      </p:sp>
    </p:spTree>
    <p:extLst>
      <p:ext uri="{BB962C8B-B14F-4D97-AF65-F5344CB8AC3E}">
        <p14:creationId xmlns:p14="http://schemas.microsoft.com/office/powerpoint/2010/main" val="1439835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1998-8CF2-EF01-5142-F68CB075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26A4B9-C90A-8144-9DAA-697122B5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Countryside and agriculture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39214-2DC6-8C04-474D-C8C7895D5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dirty="0"/>
              <a:t>Backwater</a:t>
            </a:r>
          </a:p>
          <a:p>
            <a:r>
              <a:rPr lang="en-US" sz="2200" dirty="0"/>
              <a:t>Country dwellers</a:t>
            </a:r>
          </a:p>
          <a:p>
            <a:r>
              <a:rPr lang="en-US" sz="2200" dirty="0"/>
              <a:t>Rural poverty</a:t>
            </a:r>
          </a:p>
          <a:p>
            <a:r>
              <a:rPr lang="en-US" sz="2200" dirty="0"/>
              <a:t>Wildlife</a:t>
            </a:r>
          </a:p>
          <a:p>
            <a:r>
              <a:rPr lang="en-US" sz="2200" dirty="0"/>
              <a:t>Subsistence</a:t>
            </a:r>
          </a:p>
          <a:p>
            <a:r>
              <a:rPr lang="en-US" sz="2200" dirty="0"/>
              <a:t>Wider economy</a:t>
            </a:r>
          </a:p>
          <a:p>
            <a:r>
              <a:rPr lang="en-US" sz="2200" dirty="0"/>
              <a:t>Animal husbandry</a:t>
            </a:r>
          </a:p>
          <a:p>
            <a:r>
              <a:rPr lang="en-US" sz="2200" dirty="0"/>
              <a:t>Remote view</a:t>
            </a:r>
          </a:p>
          <a:p>
            <a:r>
              <a:rPr lang="en-US" sz="2200" dirty="0"/>
              <a:t>Rural</a:t>
            </a:r>
          </a:p>
          <a:p>
            <a:r>
              <a:rPr lang="en-US" sz="2200" dirty="0"/>
              <a:t>Scarcity</a:t>
            </a:r>
          </a:p>
          <a:p>
            <a:r>
              <a:rPr lang="en-US" sz="2200" dirty="0"/>
              <a:t>Material considerations</a:t>
            </a:r>
          </a:p>
          <a:p>
            <a:r>
              <a:rPr lang="en-US" sz="2200" dirty="0"/>
              <a:t>Forestry</a:t>
            </a:r>
          </a:p>
          <a:p>
            <a:r>
              <a:rPr lang="en-US" sz="2200" dirty="0"/>
              <a:t>Self-sufficient</a:t>
            </a:r>
          </a:p>
          <a:p>
            <a:r>
              <a:rPr lang="en-US" sz="2200" dirty="0"/>
              <a:t>City dwellers</a:t>
            </a:r>
          </a:p>
          <a:p>
            <a:r>
              <a:rPr lang="en-US" sz="2200" dirty="0"/>
              <a:t>Crop rotation</a:t>
            </a:r>
          </a:p>
          <a:p>
            <a:r>
              <a:rPr lang="en-US" sz="2200" dirty="0"/>
              <a:t>Environmental awareness</a:t>
            </a:r>
          </a:p>
          <a:p>
            <a:r>
              <a:rPr lang="en-US" sz="2200" dirty="0"/>
              <a:t>Rural depopulation</a:t>
            </a:r>
          </a:p>
          <a:p>
            <a:r>
              <a:rPr lang="en-US" sz="2200" dirty="0"/>
              <a:t>Rural unemployment</a:t>
            </a:r>
          </a:p>
          <a:p>
            <a:r>
              <a:rPr lang="en-US" sz="2200" dirty="0"/>
              <a:t>Abundance</a:t>
            </a:r>
          </a:p>
          <a:p>
            <a:r>
              <a:rPr lang="en-US" sz="2200" dirty="0"/>
              <a:t>Smallholders</a:t>
            </a:r>
          </a:p>
          <a:p>
            <a:r>
              <a:rPr lang="en-US" sz="2200" dirty="0"/>
              <a:t>Afflict</a:t>
            </a:r>
          </a:p>
          <a:p>
            <a:r>
              <a:rPr lang="en-US" sz="2200" dirty="0"/>
              <a:t>Irrigation</a:t>
            </a:r>
          </a:p>
          <a:p>
            <a:r>
              <a:rPr lang="en-US" sz="2200" dirty="0"/>
              <a:t>Far-flung</a:t>
            </a:r>
          </a:p>
        </p:txBody>
      </p:sp>
    </p:spTree>
    <p:extLst>
      <p:ext uri="{BB962C8B-B14F-4D97-AF65-F5344CB8AC3E}">
        <p14:creationId xmlns:p14="http://schemas.microsoft.com/office/powerpoint/2010/main" val="4028773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B26EF-9818-869F-6A86-8A1745FA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AE4D50-0F2B-C00C-3DD2-E574FAFC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Government and  Authorities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1BB05-1B25-6503-1BEA-CBEA7C1DB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US" sz="2200" dirty="0"/>
              <a:t>Law and order</a:t>
            </a:r>
          </a:p>
          <a:p>
            <a:r>
              <a:rPr lang="en-US" sz="2200" dirty="0"/>
              <a:t>Trustworthy</a:t>
            </a:r>
          </a:p>
          <a:p>
            <a:r>
              <a:rPr lang="en-US" sz="2200" dirty="0"/>
              <a:t>Minutia</a:t>
            </a:r>
          </a:p>
          <a:p>
            <a:r>
              <a:rPr lang="en-US" sz="2200" dirty="0"/>
              <a:t>Sensitivity</a:t>
            </a:r>
          </a:p>
          <a:p>
            <a:r>
              <a:rPr lang="en-US" sz="2200" dirty="0"/>
              <a:t>Trials</a:t>
            </a:r>
          </a:p>
          <a:p>
            <a:r>
              <a:rPr lang="en-US" sz="2200" dirty="0"/>
              <a:t>Sentencing</a:t>
            </a:r>
          </a:p>
          <a:p>
            <a:r>
              <a:rPr lang="en-US" sz="2200" dirty="0"/>
              <a:t>Community service</a:t>
            </a:r>
          </a:p>
          <a:p>
            <a:r>
              <a:rPr lang="en-US" sz="2200" dirty="0"/>
              <a:t>Tendency</a:t>
            </a:r>
          </a:p>
          <a:p>
            <a:r>
              <a:rPr lang="en-US" sz="2200" dirty="0"/>
              <a:t>Enforce laws</a:t>
            </a:r>
          </a:p>
          <a:p>
            <a:r>
              <a:rPr lang="en-US" sz="2200" dirty="0"/>
              <a:t>Transferable skills</a:t>
            </a:r>
          </a:p>
          <a:p>
            <a:r>
              <a:rPr lang="en-US" sz="2200" dirty="0"/>
              <a:t>Transcend</a:t>
            </a:r>
          </a:p>
          <a:p>
            <a:r>
              <a:rPr lang="en-US" sz="2200" dirty="0"/>
              <a:t>Policing</a:t>
            </a:r>
          </a:p>
          <a:p>
            <a:r>
              <a:rPr lang="en-US" sz="2200" dirty="0"/>
              <a:t>Frictions</a:t>
            </a:r>
          </a:p>
          <a:p>
            <a:r>
              <a:rPr lang="en-US" sz="2200" dirty="0"/>
              <a:t>Informants</a:t>
            </a:r>
          </a:p>
          <a:p>
            <a:r>
              <a:rPr lang="en-US" sz="2200" dirty="0"/>
              <a:t>Conviction</a:t>
            </a:r>
          </a:p>
          <a:p>
            <a:r>
              <a:rPr lang="en-US" sz="2200" dirty="0"/>
              <a:t>Imprisonment</a:t>
            </a:r>
          </a:p>
          <a:p>
            <a:r>
              <a:rPr lang="en-US" sz="2200" dirty="0"/>
              <a:t>Rehabilitation</a:t>
            </a:r>
          </a:p>
          <a:p>
            <a:r>
              <a:rPr lang="en-US" sz="2200" dirty="0"/>
              <a:t>Unequitable</a:t>
            </a:r>
          </a:p>
          <a:p>
            <a:r>
              <a:rPr lang="en-US" sz="2200" dirty="0"/>
              <a:t>Lateral thinking</a:t>
            </a:r>
          </a:p>
          <a:p>
            <a:r>
              <a:rPr lang="en-US" sz="2200" dirty="0"/>
              <a:t>Justice department</a:t>
            </a:r>
          </a:p>
          <a:p>
            <a:r>
              <a:rPr lang="en-US" sz="2200" dirty="0"/>
              <a:t>Devious</a:t>
            </a:r>
          </a:p>
          <a:p>
            <a:r>
              <a:rPr lang="en-US" sz="2200" dirty="0"/>
              <a:t>Grievance</a:t>
            </a:r>
          </a:p>
          <a:p>
            <a:r>
              <a:rPr lang="en-US" sz="2200" dirty="0"/>
              <a:t>Evidence</a:t>
            </a:r>
          </a:p>
          <a:p>
            <a:r>
              <a:rPr lang="en-US" sz="2200" dirty="0"/>
              <a:t>Deterrent</a:t>
            </a:r>
          </a:p>
          <a:p>
            <a:r>
              <a:rPr lang="en-US" sz="2200" dirty="0"/>
              <a:t>Fines</a:t>
            </a:r>
          </a:p>
          <a:p>
            <a:r>
              <a:rPr lang="en-US" sz="2200" dirty="0"/>
              <a:t>Offender</a:t>
            </a:r>
          </a:p>
          <a:p>
            <a:r>
              <a:rPr lang="en-US" sz="2200" dirty="0"/>
              <a:t>Bribery</a:t>
            </a:r>
          </a:p>
          <a:p>
            <a:r>
              <a:rPr lang="en-US" sz="2200" dirty="0"/>
              <a:t>Law-abiding</a:t>
            </a:r>
          </a:p>
          <a:p>
            <a:r>
              <a:rPr lang="en-US" sz="2200" dirty="0"/>
              <a:t>Investigative journalism</a:t>
            </a:r>
          </a:p>
          <a:p>
            <a:r>
              <a:rPr lang="en-US" sz="2200" dirty="0"/>
              <a:t>Outweigh</a:t>
            </a:r>
          </a:p>
        </p:txBody>
      </p:sp>
    </p:spTree>
    <p:extLst>
      <p:ext uri="{BB962C8B-B14F-4D97-AF65-F5344CB8AC3E}">
        <p14:creationId xmlns:p14="http://schemas.microsoft.com/office/powerpoint/2010/main" val="2278019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82C6-7413-FB6B-00E3-C25D6BBF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5E8CE0-A338-8C53-1B01-AF439C65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/>
              <a:t>📖 Vocabulary – 💭Expressions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7857D-F079-64AA-414B-6DCFD3C04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 numCol="3">
            <a:normAutofit/>
          </a:bodyPr>
          <a:lstStyle/>
          <a:p>
            <a:r>
              <a:rPr lang="en-CA" sz="2200" noProof="0" dirty="0"/>
              <a:t>Bit into the weeds</a:t>
            </a:r>
          </a:p>
          <a:p>
            <a:r>
              <a:rPr lang="en-CA" sz="2200" noProof="0" dirty="0"/>
              <a:t>One thing I’d mention though</a:t>
            </a:r>
          </a:p>
          <a:p>
            <a:endParaRPr lang="en-CA" sz="2200" noProof="0" dirty="0"/>
          </a:p>
        </p:txBody>
      </p:sp>
    </p:spTree>
    <p:extLst>
      <p:ext uri="{BB962C8B-B14F-4D97-AF65-F5344CB8AC3E}">
        <p14:creationId xmlns:p14="http://schemas.microsoft.com/office/powerpoint/2010/main" val="147907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rk mode">
      <a:dk1>
        <a:sysClr val="windowText" lastClr="000000"/>
      </a:dk1>
      <a:lt1>
        <a:srgbClr val="D8D8D8"/>
      </a:lt1>
      <a:dk2>
        <a:srgbClr val="0E2841"/>
      </a:dk2>
      <a:lt2>
        <a:srgbClr val="8ED873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19144</TotalTime>
  <Words>2212</Words>
  <Application>Microsoft Office PowerPoint</Application>
  <PresentationFormat>Widescreen</PresentationFormat>
  <Paragraphs>716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CELPIP General</vt:lpstr>
      <vt:lpstr>🎧Listening [47–55 min]</vt:lpstr>
      <vt:lpstr>🎧 Listening – 💡Tips</vt:lpstr>
      <vt:lpstr>📚 Reading [55-60 min]</vt:lpstr>
      <vt:lpstr>📚 Reading – 💡Tips</vt:lpstr>
      <vt:lpstr>✒️ Writing [53-60 min]</vt:lpstr>
      <vt:lpstr>✒️ Writing – Task 1</vt:lpstr>
      <vt:lpstr>✒️ Writing – 💡Tips</vt:lpstr>
      <vt:lpstr>✒️ Writing – 💡Tips</vt:lpstr>
      <vt:lpstr>✒️ Writing – 💡Task 1 Vocabulary</vt:lpstr>
      <vt:lpstr>✒️ Writing – 💡Task 2 Reasoning</vt:lpstr>
      <vt:lpstr>🗣️ Speaking [15–20 min]</vt:lpstr>
      <vt:lpstr>🗣️ Speaking – 💡Tips</vt:lpstr>
      <vt:lpstr>🗣️ Speaking – 💡Tips</vt:lpstr>
      <vt:lpstr>🗣️ Speaking – 💡Tips</vt:lpstr>
      <vt:lpstr>🗣️ Speaking – 💡Tips</vt:lpstr>
      <vt:lpstr>📖 Grammar zone</vt:lpstr>
      <vt:lpstr>📖 Grammar zone</vt:lpstr>
      <vt:lpstr>📖 Grammar zone – Transitions/ Linkers / Adverbs</vt:lpstr>
      <vt:lpstr>📖 Vocabulary – 💡Tips</vt:lpstr>
      <vt:lpstr>📖 Vocabulary – Work and careers</vt:lpstr>
      <vt:lpstr>📖 Vocabulary – Education and Schooling</vt:lpstr>
      <vt:lpstr>📖 Vocabulary – Children and families</vt:lpstr>
      <vt:lpstr>📖 Vocabulary – Nature, Environment, Energy</vt:lpstr>
      <vt:lpstr>📖 Vocabulary – Culture, Art, Tradition</vt:lpstr>
      <vt:lpstr>📖 Vocabulary – Health and sport</vt:lpstr>
      <vt:lpstr>📖 Vocabulary – Global Challenges</vt:lpstr>
      <vt:lpstr>📖 Vocabulary – Cities and Infrastructure</vt:lpstr>
      <vt:lpstr>📖 Vocabulary – Countryside and agriculture</vt:lpstr>
      <vt:lpstr>📖 Vocabulary – Government and  Authorities</vt:lpstr>
      <vt:lpstr>📖 Vocabulary – 💭Expressions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Dhanuja Kaluarachchi</dc:creator>
  <cp:lastModifiedBy>Dhanuja Kaluarachchi</cp:lastModifiedBy>
  <cp:revision>2</cp:revision>
  <dcterms:created xsi:type="dcterms:W3CDTF">2026-02-13T03:10:59Z</dcterms:created>
  <dcterms:modified xsi:type="dcterms:W3CDTF">2026-03-12T12:29:36Z</dcterms:modified>
</cp:coreProperties>
</file>